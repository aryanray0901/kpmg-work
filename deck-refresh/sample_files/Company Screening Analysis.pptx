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44a7e5d3b4086" /><Relationship Type="http://schemas.openxmlformats.org/officeDocument/2006/relationships/extended-properties" Target="/docProps/app.xml" Id="R52ddd7cb22484b5e" /><Relationship Type="http://schemas.openxmlformats.org/officeDocument/2006/relationships/officeDocument" Target="/ppt/presentation.xml" Id="R8616b08a6e55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3bfd0e8b34131"/>
  </p:sldMasterIdLst>
  <p:notesMasterIdLst>
    <p:notesMasterId xmlns:r="http://schemas.openxmlformats.org/officeDocument/2006/relationships" r:id="Rbf992458076c4e31"/>
  </p:notesMasterIdLst>
  <p:sldIdLst>
    <p:sldId xmlns:r="http://schemas.openxmlformats.org/officeDocument/2006/relationships" id="256" r:id="Rd00a6be17060419d"/>
    <p:sldId xmlns:r="http://schemas.openxmlformats.org/officeDocument/2006/relationships" id="257" r:id="Rc6ced011583141cd"/>
    <p:sldId xmlns:r="http://schemas.openxmlformats.org/officeDocument/2006/relationships" id="258" r:id="Rc985b45fde4548ed"/>
    <p:sldId xmlns:r="http://schemas.openxmlformats.org/officeDocument/2006/relationships" id="259" r:id="R5903d81c49334765"/>
    <p:sldId xmlns:r="http://schemas.openxmlformats.org/officeDocument/2006/relationships" id="260" r:id="Rdc86a2f6719446e1"/>
    <p:sldId xmlns:r="http://schemas.openxmlformats.org/officeDocument/2006/relationships" id="261" r:id="R9f2f5a055cc3411b"/>
    <p:sldId xmlns:r="http://schemas.openxmlformats.org/officeDocument/2006/relationships" id="262" r:id="R2724a4e0e2d84abf"/>
    <p:sldId xmlns:r="http://schemas.openxmlformats.org/officeDocument/2006/relationships" id="263" r:id="Rbe646121fbb1486e"/>
    <p:sldId xmlns:r="http://schemas.openxmlformats.org/officeDocument/2006/relationships" id="264" r:id="Rf2dfa7a01d5f40da"/>
    <p:sldId xmlns:r="http://schemas.openxmlformats.org/officeDocument/2006/relationships" id="265" r:id="Rd53986e7133947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d87b9c9be845cc" /><Relationship Type="http://schemas.openxmlformats.org/officeDocument/2006/relationships/slideMaster" Target="/ppt/slideMasters/slideMaster1.xml" Id="Rd683bfd0e8b34131" /><Relationship Type="http://schemas.openxmlformats.org/officeDocument/2006/relationships/notesMaster" Target="/ppt/notesMasters/notesMaster1.xml" Id="Rbf992458076c4e31" /><Relationship Type="http://schemas.openxmlformats.org/officeDocument/2006/relationships/presProps" Target="/ppt/presProps.xml" Id="R75be3185d6db4800" /><Relationship Type="http://schemas.openxmlformats.org/officeDocument/2006/relationships/tableStyles" Target="/ppt/tableStyles.xml" Id="Ra7640ca5081f43c6" /><Relationship Type="http://schemas.openxmlformats.org/officeDocument/2006/relationships/slide" Target="/ppt/slides/slide1.xml" Id="Rd00a6be17060419d" /><Relationship Type="http://schemas.openxmlformats.org/officeDocument/2006/relationships/slide" Target="/ppt/slides/slide2.xml" Id="Rc6ced011583141cd" /><Relationship Type="http://schemas.openxmlformats.org/officeDocument/2006/relationships/slide" Target="/ppt/slides/slide3.xml" Id="Rc985b45fde4548ed" /><Relationship Type="http://schemas.openxmlformats.org/officeDocument/2006/relationships/slide" Target="/ppt/slides/slide4.xml" Id="R5903d81c49334765" /><Relationship Type="http://schemas.openxmlformats.org/officeDocument/2006/relationships/slide" Target="/ppt/slides/slide5.xml" Id="Rdc86a2f6719446e1" /><Relationship Type="http://schemas.openxmlformats.org/officeDocument/2006/relationships/slide" Target="/ppt/slides/slide6.xml" Id="R9f2f5a055cc3411b" /><Relationship Type="http://schemas.openxmlformats.org/officeDocument/2006/relationships/slide" Target="/ppt/slides/slide7.xml" Id="R2724a4e0e2d84abf" /><Relationship Type="http://schemas.openxmlformats.org/officeDocument/2006/relationships/slide" Target="/ppt/slides/slide8.xml" Id="Rbe646121fbb1486e" /><Relationship Type="http://schemas.openxmlformats.org/officeDocument/2006/relationships/slide" Target="/ppt/slides/slide9.xml" Id="Rf2dfa7a01d5f40da" /><Relationship Type="http://schemas.openxmlformats.org/officeDocument/2006/relationships/slide" Target="/ppt/slides/slide10.xml" Id="Rd53986e7133947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8f6e058a3f44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088e702674859" /><Relationship Type="http://schemas.openxmlformats.org/officeDocument/2006/relationships/notesMaster" Target="/ppt/notesMasters/notesMaster1.xml" Id="R2274f5ca58924f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37bae6aa644287" /><Relationship Type="http://schemas.openxmlformats.org/officeDocument/2006/relationships/notesMaster" Target="/ppt/notesMasters/notesMaster1.xml" Id="R11f0bdf1168540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2bba4f73834557" /><Relationship Type="http://schemas.openxmlformats.org/officeDocument/2006/relationships/notesMaster" Target="/ppt/notesMasters/notesMaster1.xml" Id="R150697c7010f4b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e79708dcfd41f9" /><Relationship Type="http://schemas.openxmlformats.org/officeDocument/2006/relationships/notesMaster" Target="/ppt/notesMasters/notesMaster1.xml" Id="Ra008852e388a41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6045dbe31e4018" /><Relationship Type="http://schemas.openxmlformats.org/officeDocument/2006/relationships/notesMaster" Target="/ppt/notesMasters/notesMaster1.xml" Id="R2c8882917dfa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1476b132e74047" /><Relationship Type="http://schemas.openxmlformats.org/officeDocument/2006/relationships/notesMaster" Target="/ppt/notesMasters/notesMaster1.xml" Id="R7efdbf56b3b646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3340f7b9741b9" /><Relationship Type="http://schemas.openxmlformats.org/officeDocument/2006/relationships/notesMaster" Target="/ppt/notesMasters/notesMaster1.xml" Id="R8479ec23def349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717d2b4e6f4e84" /><Relationship Type="http://schemas.openxmlformats.org/officeDocument/2006/relationships/notesMaster" Target="/ppt/notesMasters/notesMaster1.xml" Id="R46885c4f20a94f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bac5921f16451b" /><Relationship Type="http://schemas.openxmlformats.org/officeDocument/2006/relationships/notesMaster" Target="/ppt/notesMasters/notesMaster1.xml" Id="R3b6e3e2d967f42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21755fbeda4432" /><Relationship Type="http://schemas.openxmlformats.org/officeDocument/2006/relationships/notesMaster" Target="/ppt/notesMasters/notesMaster1.xml" Id="R3dba90461376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Company Screening Report (1).xls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51376ea164b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742617ed84c47" /><Relationship Type="http://schemas.openxmlformats.org/officeDocument/2006/relationships/slideLayout" Target="/ppt/slideLayouts/slideLayout1.xml" Id="Ra9ee2061624048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ee20616240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7692909514563" /><Relationship Type="http://schemas.openxmlformats.org/officeDocument/2006/relationships/notesSlide" Target="/ppt/notesSlides/notesSlide1.xml" Id="Rf1523f7ca83742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37fce1f6a48ba" /><Relationship Type="http://schemas.openxmlformats.org/officeDocument/2006/relationships/notesSlide" Target="/ppt/notesSlides/notesSlide2.xml" Id="R584314d1e43a4b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4b7db41bd462d" /><Relationship Type="http://schemas.openxmlformats.org/officeDocument/2006/relationships/chart" Target="/ppt/slides/charts/chart1.xml" Id="R6482ce95f5294791" /><Relationship Type="http://schemas.openxmlformats.org/officeDocument/2006/relationships/notesSlide" Target="/ppt/notesSlides/notesSlide3.xml" Id="R53d4ddb25e0141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cb0cb939d4f94" /><Relationship Type="http://schemas.openxmlformats.org/officeDocument/2006/relationships/chart" Target="/ppt/slides/charts/chart2.xml" Id="Rf348d3b7eb99451c" /><Relationship Type="http://schemas.openxmlformats.org/officeDocument/2006/relationships/notesSlide" Target="/ppt/notesSlides/notesSlide4.xml" Id="R8d222935a8d44f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543893ed47c7" /><Relationship Type="http://schemas.openxmlformats.org/officeDocument/2006/relationships/chart" Target="/ppt/slides/charts/chart3.xml" Id="R27fc6581682a4404" /><Relationship Type="http://schemas.openxmlformats.org/officeDocument/2006/relationships/notesSlide" Target="/ppt/notesSlides/notesSlide5.xml" Id="R3786ed007783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425c6686c4aca" /><Relationship Type="http://schemas.openxmlformats.org/officeDocument/2006/relationships/chart" Target="/ppt/slides/charts/chart4.xml" Id="R24d945f828234b38" /><Relationship Type="http://schemas.openxmlformats.org/officeDocument/2006/relationships/notesSlide" Target="/ppt/notesSlides/notesSlide6.xml" Id="R554ade2ebeb940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2358389cc49b5" /><Relationship Type="http://schemas.openxmlformats.org/officeDocument/2006/relationships/notesSlide" Target="/ppt/notesSlides/notesSlide7.xml" Id="Rfddfc05e0a444b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9a0e488254d10" /><Relationship Type="http://schemas.openxmlformats.org/officeDocument/2006/relationships/notesSlide" Target="/ppt/notesSlides/notesSlide8.xml" Id="Re9b029a83ac64b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3c40a579a4274" /><Relationship Type="http://schemas.openxmlformats.org/officeDocument/2006/relationships/notesSlide" Target="/ppt/notesSlides/notesSlide9.xml" Id="R3029333a009541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052d35d124754" /><Relationship Type="http://schemas.openxmlformats.org/officeDocument/2006/relationships/notesSlide" Target="/ppt/notesSlides/notesSlide10.xml" Id="R1839997558b5480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All entities</c:v>
          </c:tx>
          <c:spPr>
            <a:solidFill xmlns:a="http://schemas.openxmlformats.org/drawingml/2006/main">
              <a:srgbClr val="0091DA"/>
            </a:solidFill>
            <a:ln xmlns:a="http://schemas.openxmlformats.org/drawingml/2006/main" w="28575">
              <a:solidFill>
                <a:srgbClr val="0091DA"/>
              </a:solidFill>
              <a:prstDash val="solid"/>
            </a:ln>
          </c:spPr>
          <c:cat>
            <c:strLit>
              <c:ptCount val="4"/>
              <c:pt idx="0">
                <c:v>U.S. &amp; Canada</c:v>
              </c:pt>
              <c:pt idx="1">
                <c:v>Europe</c:v>
              </c:pt>
              <c:pt idx="2">
                <c:v>Asia-Pacific</c:v>
              </c:pt>
              <c:pt idx="3">
                <c:v>Latin America</c:v>
              </c:pt>
            </c:strLit>
          </c:cat>
          <c:val>
            <c:numLit>
              <c:formatCode>#,##0</c:formatCode>
              <c:ptCount val="4"/>
              <c:pt idx="0">
                <c:v>904</c:v>
              </c:pt>
              <c:pt idx="1">
                <c:v>497</c:v>
              </c:pt>
              <c:pt idx="2">
                <c:v>322</c:v>
              </c:pt>
              <c:pt idx="3">
                <c:v>87</c:v>
              </c:pt>
            </c:numLit>
          </c:val>
        </c:ser>
        <c:ser>
          <c:idx val="1"/>
          <c:order val="1"/>
          <c:tx>
            <c:v>Investment grade</c:v>
          </c:tx>
          <c:spPr>
            <a:solidFill xmlns:a="http://schemas.openxmlformats.org/drawingml/2006/main">
              <a:srgbClr val="00338D"/>
            </a:solidFill>
            <a:ln xmlns:a="http://schemas.openxmlformats.org/drawingml/2006/main" w="28575">
              <a:solidFill>
                <a:srgbClr val="00338D"/>
              </a:solidFill>
              <a:prstDash val="solid"/>
            </a:ln>
          </c:spPr>
          <c:cat>
            <c:strLit>
              <c:ptCount val="4"/>
              <c:pt idx="0">
                <c:v>U.S. &amp; Canada</c:v>
              </c:pt>
              <c:pt idx="1">
                <c:v>Europe</c:v>
              </c:pt>
              <c:pt idx="2">
                <c:v>Asia-Pacific</c:v>
              </c:pt>
              <c:pt idx="3">
                <c:v>Latin America</c:v>
              </c:pt>
            </c:strLit>
          </c:cat>
          <c:val>
            <c:numLit>
              <c:formatCode>#,##0</c:formatCode>
              <c:ptCount val="4"/>
              <c:pt idx="0">
                <c:v>756</c:v>
              </c:pt>
              <c:pt idx="1">
                <c:v>409</c:v>
              </c:pt>
              <c:pt idx="2">
                <c:v>310</c:v>
              </c:pt>
              <c:pt idx="3">
                <c:v>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Investment grade</c:v>
          </c:tx>
          <c:spPr>
            <a:solidFill xmlns:a="http://schemas.openxmlformats.org/drawingml/2006/main">
              <a:srgbClr val="0091DA"/>
            </a:solidFill>
            <a:ln xmlns:a="http://schemas.openxmlformats.org/drawingml/2006/main" w="28575">
              <a:solidFill>
                <a:srgbClr val="0091DA"/>
              </a:solidFill>
              <a:prstDash val="solid"/>
            </a:ln>
          </c:spPr>
          <c:cat>
            <c:strLit>
              <c:ptCount val="4"/>
              <c:pt idx="0">
                <c:v>U.S. &amp; Canada</c:v>
              </c:pt>
              <c:pt idx="1">
                <c:v>Europe</c:v>
              </c:pt>
              <c:pt idx="2">
                <c:v>Asia-Pacific</c:v>
              </c:pt>
              <c:pt idx="3">
                <c:v>Latin America</c:v>
              </c:pt>
            </c:strLit>
          </c:cat>
          <c:val>
            <c:numLit>
              <c:formatCode>#,##0</c:formatCode>
              <c:ptCount val="4"/>
              <c:pt idx="0">
                <c:v>756</c:v>
              </c:pt>
              <c:pt idx="1">
                <c:v>409</c:v>
              </c:pt>
              <c:pt idx="2">
                <c:v>310</c:v>
              </c:pt>
              <c:pt idx="3">
                <c:v>66</c:v>
              </c:pt>
            </c:numLit>
          </c:val>
        </c:ser>
        <c:ser>
          <c:idx val="1"/>
          <c:order val="1"/>
          <c:tx>
            <c:v>Non-IG / unrated</c:v>
          </c:tx>
          <c:spPr>
            <a:solidFill xmlns:a="http://schemas.openxmlformats.org/drawingml/2006/main">
              <a:srgbClr val="00338D"/>
            </a:solidFill>
            <a:ln xmlns:a="http://schemas.openxmlformats.org/drawingml/2006/main" w="28575">
              <a:solidFill>
                <a:srgbClr val="00338D"/>
              </a:solidFill>
              <a:prstDash val="solid"/>
            </a:ln>
          </c:spPr>
          <c:cat>
            <c:strLit>
              <c:ptCount val="4"/>
              <c:pt idx="0">
                <c:v>U.S. &amp; Canada</c:v>
              </c:pt>
              <c:pt idx="1">
                <c:v>Europe</c:v>
              </c:pt>
              <c:pt idx="2">
                <c:v>Asia-Pacific</c:v>
              </c:pt>
              <c:pt idx="3">
                <c:v>Latin America</c:v>
              </c:pt>
            </c:strLit>
          </c:cat>
          <c:val>
            <c:numLit>
              <c:formatCode>#,##0</c:formatCode>
              <c:ptCount val="4"/>
              <c:pt idx="0">
                <c:v>148</c:v>
              </c:pt>
              <c:pt idx="1">
                <c:v>88</c:v>
              </c:pt>
              <c:pt idx="2">
                <c:v>12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All entities</c:v>
          </c:tx>
          <c:spPr>
            <a:solidFill xmlns:a="http://schemas.openxmlformats.org/drawingml/2006/main">
              <a:srgbClr val="0091DA"/>
            </a:solidFill>
            <a:ln xmlns:a="http://schemas.openxmlformats.org/drawingml/2006/main" w="28575">
              <a:solidFill>
                <a:srgbClr val="0091DA"/>
              </a:solidFill>
              <a:prstDash val="solid"/>
            </a:ln>
          </c:spPr>
          <c:cat>
            <c:strLit>
              <c:ptCount val="3"/>
              <c:pt idx="0">
                <c:v>Satisfactory</c:v>
              </c:pt>
              <c:pt idx="1">
                <c:v>Strong</c:v>
              </c:pt>
              <c:pt idx="2">
                <c:v>Excellent</c:v>
              </c:pt>
            </c:strLit>
          </c:cat>
          <c:val>
            <c:numLit>
              <c:formatCode>#,##0</c:formatCode>
              <c:ptCount val="3"/>
              <c:pt idx="0">
                <c:v>955</c:v>
              </c:pt>
              <c:pt idx="1">
                <c:v>543</c:v>
              </c:pt>
              <c:pt idx="2">
                <c:v>312</c:v>
              </c:pt>
            </c:numLit>
          </c:val>
        </c:ser>
        <c:ser>
          <c:idx val="1"/>
          <c:order val="1"/>
          <c:tx>
            <c:v>Investment grade</c:v>
          </c:tx>
          <c:spPr>
            <a:solidFill xmlns:a="http://schemas.openxmlformats.org/drawingml/2006/main">
              <a:srgbClr val="00338D"/>
            </a:solidFill>
            <a:ln xmlns:a="http://schemas.openxmlformats.org/drawingml/2006/main" w="28575">
              <a:solidFill>
                <a:srgbClr val="00338D"/>
              </a:solidFill>
              <a:prstDash val="solid"/>
            </a:ln>
          </c:spPr>
          <c:cat>
            <c:strLit>
              <c:ptCount val="3"/>
              <c:pt idx="0">
                <c:v>Satisfactory</c:v>
              </c:pt>
              <c:pt idx="1">
                <c:v>Strong</c:v>
              </c:pt>
              <c:pt idx="2">
                <c:v>Excellent</c:v>
              </c:pt>
            </c:strLit>
          </c:cat>
          <c:val>
            <c:numLit>
              <c:formatCode>#,##0</c:formatCode>
              <c:ptCount val="3"/>
              <c:pt idx="0">
                <c:v>714</c:v>
              </c:pt>
              <c:pt idx="1">
                <c:v>519</c:v>
              </c:pt>
              <c:pt idx="2">
                <c:v>308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All ratings</c:v>
          </c:tx>
          <c:spPr>
            <a:solidFill xmlns:a="http://schemas.openxmlformats.org/drawingml/2006/main">
              <a:srgbClr val="0091DA"/>
            </a:solidFill>
            <a:ln xmlns:a="http://schemas.openxmlformats.org/drawingml/2006/main" w="28575">
              <a:solidFill>
                <a:srgbClr val="0091DA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11"/>
              <c:pt idx="0">
                <c:v>≤2016</c:v>
              </c:pt>
              <c:pt idx="1">
                <c:v>2017</c:v>
              </c:pt>
              <c:pt idx="2">
                <c:v>2018</c:v>
              </c:pt>
              <c:pt idx="3">
                <c:v>2019</c:v>
              </c:pt>
              <c:pt idx="4">
                <c:v>2020</c:v>
              </c:pt>
              <c:pt idx="5">
                <c:v>2021</c:v>
              </c:pt>
              <c:pt idx="6">
                <c:v>2022</c:v>
              </c:pt>
              <c:pt idx="7">
                <c:v>2023</c:v>
              </c:pt>
              <c:pt idx="8">
                <c:v>2024</c:v>
              </c:pt>
              <c:pt idx="9">
                <c:v>2025</c:v>
              </c:pt>
              <c:pt idx="10">
                <c:v>2026</c:v>
              </c:pt>
            </c:strLit>
          </c:cat>
          <c:val>
            <c:numLit>
              <c:formatCode>#,##0</c:formatCode>
              <c:ptCount val="11"/>
              <c:pt idx="0">
                <c:v>401</c:v>
              </c:pt>
              <c:pt idx="1">
                <c:v>74</c:v>
              </c:pt>
              <c:pt idx="2">
                <c:v>108</c:v>
              </c:pt>
              <c:pt idx="3">
                <c:v>90</c:v>
              </c:pt>
              <c:pt idx="4">
                <c:v>98</c:v>
              </c:pt>
              <c:pt idx="5">
                <c:v>147</c:v>
              </c:pt>
              <c:pt idx="6">
                <c:v>116</c:v>
              </c:pt>
              <c:pt idx="7">
                <c:v>184</c:v>
              </c:pt>
              <c:pt idx="8">
                <c:v>220</c:v>
              </c:pt>
              <c:pt idx="9">
                <c:v>287</c:v>
              </c:pt>
              <c:pt idx="10">
                <c:v>76</c:v>
              </c:pt>
            </c:numLit>
          </c:val>
        </c:ser>
        <c:ser>
          <c:idx val="1"/>
          <c:order val="1"/>
          <c:tx>
            <c:v>Investment grade</c:v>
          </c:tx>
          <c:spPr>
            <a:solidFill xmlns:a="http://schemas.openxmlformats.org/drawingml/2006/main">
              <a:srgbClr val="00338D"/>
            </a:solidFill>
            <a:ln xmlns:a="http://schemas.openxmlformats.org/drawingml/2006/main" w="28575">
              <a:solidFill>
                <a:srgbClr val="0033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0EDFA"/>
              </a:solidFill>
            </c:spPr>
          </c:marker>
          <c:cat>
            <c:strLit>
              <c:ptCount val="11"/>
              <c:pt idx="0">
                <c:v>≤2016</c:v>
              </c:pt>
              <c:pt idx="1">
                <c:v>2017</c:v>
              </c:pt>
              <c:pt idx="2">
                <c:v>2018</c:v>
              </c:pt>
              <c:pt idx="3">
                <c:v>2019</c:v>
              </c:pt>
              <c:pt idx="4">
                <c:v>2020</c:v>
              </c:pt>
              <c:pt idx="5">
                <c:v>2021</c:v>
              </c:pt>
              <c:pt idx="6">
                <c:v>2022</c:v>
              </c:pt>
              <c:pt idx="7">
                <c:v>2023</c:v>
              </c:pt>
              <c:pt idx="8">
                <c:v>2024</c:v>
              </c:pt>
              <c:pt idx="9">
                <c:v>2025</c:v>
              </c:pt>
              <c:pt idx="10">
                <c:v>2026</c:v>
              </c:pt>
            </c:strLit>
          </c:cat>
          <c:val>
            <c:numLit>
              <c:formatCode>#,##0</c:formatCode>
              <c:ptCount val="11"/>
              <c:pt idx="0">
                <c:v>379</c:v>
              </c:pt>
              <c:pt idx="1">
                <c:v>66</c:v>
              </c:pt>
              <c:pt idx="2">
                <c:v>100</c:v>
              </c:pt>
              <c:pt idx="3">
                <c:v>85</c:v>
              </c:pt>
              <c:pt idx="4">
                <c:v>83</c:v>
              </c:pt>
              <c:pt idx="5">
                <c:v>128</c:v>
              </c:pt>
              <c:pt idx="6">
                <c:v>94</c:v>
              </c:pt>
              <c:pt idx="7">
                <c:v>148</c:v>
              </c:pt>
              <c:pt idx="8">
                <c:v>174</c:v>
              </c:pt>
              <c:pt idx="9">
                <c:v>227</c:v>
              </c:pt>
              <c:pt idx="10">
                <c:v>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B4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38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7E12926-99A4-4466-BFD5-9E61486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00012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Company Screening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Portfolio Analysis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7274F0B-F9E2-4BFD-A3DE-DB334A97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Prepared for client discussion | August 2026 | Confidential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7C26500-4676-4B0C-99EB-5C92B4A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rPr>
              <a:t>KPMG | DEAL ADVISORY</a:t>
            </a:r>
          </a:p>
        </p:txBody>
      </p:sp>
    </p:spTree>
    <p:extLst>
      <p:ext uri="{BB962C8B-B14F-4D97-AF65-F5344CB8AC3E}">
        <p14:creationId xmlns:p14="http://schemas.microsoft.com/office/powerpoint/2010/main" val="1527573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680BC77-639B-4DA0-8706-907A5D14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EEC3F828-3BC0-4C81-A129-0EF87B5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7B7D653-16D4-4D0F-AEE7-9FF22D36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E589EB2-7F86-481C-8B33-7004D5A9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6263A3B-4862-49B7-A8C0-E4D8E1BC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The screen is broad and 85% investment grade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4384EB0-CF69-427A-B85F-F5230E54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entities screened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685350A-7D0F-49CE-B787-F223270F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U.S. and Canada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257B011-2774-4107-9BF0-3A663051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investment grade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110D1F1-64D7-4621-9C95-AE62FE9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1,810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99DFBFC-FB2C-40C9-8FCA-1AF183A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85.1%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E4E6506-E62F-41E3-8177-843D2770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49.9%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1673631-DF90-48F4-90E4-44537772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Executive summary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The source file includes only entities above Fair business risk. Most records remain investment grade, while half of the universe sits in the United States and Canada.</a:t>
            </a:r>
          </a:p>
        </p:txBody>
      </p:sp>
    </p:spTree>
    <p:extLst>
      <p:ext uri="{BB962C8B-B14F-4D97-AF65-F5344CB8AC3E}">
        <p14:creationId xmlns:p14="http://schemas.microsoft.com/office/powerpoint/2010/main" val="443395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289413D-1B63-4A28-B336-1BE8903B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AECAAEA-FE97-47EA-8BB5-9F86DB8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North America is half the universe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AB58E9D6-DD91-4A53-8FFE-D8ABEFC5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FB24798-E7B0-416E-90E2-7B5E9F0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Europe follows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497 entities represent 27.5% of the screen.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44748FEA-DFDD-4531-9E7A-600FFC2C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3E05404-52B3-45F2-931C-E83D2DF7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Largest region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904 entities are in the U.S. and Canada.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E64D6EE4-30E3-4543-8304-C4DE44B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521B9CED-6B63-488E-96A9-5019FD5C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Coverage breadth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Asia-Pacific and Latin America add 409 entities across the remaining regions.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82ce95f5294791"/>
          </a:graphicData>
        </a:graphic>
      </p:graphicFrame>
    </p:spTree>
    <p:extLst>
      <p:ext uri="{BB962C8B-B14F-4D97-AF65-F5344CB8AC3E}">
        <p14:creationId xmlns:p14="http://schemas.microsoft.com/office/powerpoint/2010/main" val="912403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594FF55-C3AD-4F8C-B6C5-0D017AF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D74714D-DE77-47FA-AEAC-D260F95D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Investment-grade share stays high across every geography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25D70BE-C5E5-4D8E-B481-C947716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85.1%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0BB7E426-D1D9-4651-A2E4-E057A366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portfolio IG share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78167E5-599E-4617-9AEB-86DC0C59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269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67E7669D-2085-46C0-BB00-B2B490C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non-IG or unrated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026132DE-7814-4CE1-8012-B14CBEAF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65F8415A-2983-4F56-B06D-E2D3ECB4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Credit quality is resilient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The screen contains 1,541 investment-grade entities. BBB+, BBB, and A- are the three most common individual ratings.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48d3b7eb99451c"/>
          </a:graphicData>
        </a:graphic>
      </p:graphicFrame>
    </p:spTree>
    <p:extLst>
      <p:ext uri="{BB962C8B-B14F-4D97-AF65-F5344CB8AC3E}">
        <p14:creationId xmlns:p14="http://schemas.microsoft.com/office/powerpoint/2010/main" val="894410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7DEBA35-0259-47E5-9B25-366E74DC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99672F9-CFB8-43A8-9085-8AE8DE87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Satisfactory risk dominates; 47% score higher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14D6B9C-5EB5-4F95-BA61-9550424D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47.2%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4803481C-CC91-4D44-B5EC-BF607DF3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Strong or Excellent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713CE47-5C8A-4497-9DD2-A243BA32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312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71A1ACF0-0EAC-4795-831B-D864022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Excellent entities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D4A043A7-AFE5-441F-A0FB-6E1042C0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E6B692AF-9462-44DA-8D06-1E336185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Risk strength supports credit quality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Every company clears the source screen’s greater-than-Fair threshold. Investment-grade entities remain the majority in each business-risk band.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fc6581682a4404"/>
          </a:graphicData>
        </a:graphic>
      </p:graphicFrame>
    </p:spTree>
    <p:extLst>
      <p:ext uri="{BB962C8B-B14F-4D97-AF65-F5344CB8AC3E}">
        <p14:creationId xmlns:p14="http://schemas.microsoft.com/office/powerpoint/2010/main" val="665670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987093C-953D-494C-8703-5EE4A2B6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7F6965D-C0B0-468F-B355-FD46339A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Recent rating dates improve decision relevance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3BCECA35-F6B3-43A4-9DBA-6C0B52E9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18F61731-7374-481C-8730-95CE3D4A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363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D87BCA8-BCC2-46D9-BA6A-E4E1C914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records dated 2025-26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0A60C7B1-8097-415A-8A33-7C537F88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BAA5AC86-6C1B-4D7C-AFE7-B2916D8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401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82714A2-9CE6-4ABD-BF8A-B680925C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dated 2016 or earlier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8088283F-D1E0-45EE-A3E6-870144F1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Recent rating dates reduce stale-data risk, while a smaller legacy tail remains in 2016 and earlier.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d945f828234b38"/>
          </a:graphicData>
        </a:graphic>
      </p:graphicFrame>
    </p:spTree>
    <p:extLst>
      <p:ext uri="{BB962C8B-B14F-4D97-AF65-F5344CB8AC3E}">
        <p14:creationId xmlns:p14="http://schemas.microsoft.com/office/powerpoint/2010/main" val="812515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0E3F92F-4942-4090-BB37-7633ED9E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79827BE-3CA3-49CD-A229-40488BA4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Regional mix balances concentration and geographic diversification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818B4F4-A275-4733-8B58-EA4FEA9B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Regional credit profile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rPr>
              <a:t>Source geography labels and data rows remain aligned with the native charts.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Entities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Investment grade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Non-IG / unrated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IG share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U.S. &amp; Canada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904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756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148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83.6%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Europe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497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409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82.3%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Asia-Pacific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322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310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96.3%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Latin America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75.9%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1,810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1,541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269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85.1%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Top rating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BBB+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379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Second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BBB (375)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522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36137F-710C-422F-9232-FA5DA9A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1BABA26-0F63-46B6-96B2-5ED32251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Representative entities preserve source field types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470A877-D3D2-4F39-9D72-8358B34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rPr>
              <a:t>Native PowerPoint table</a:t>
            </a:r>
          </a:p>
          <a:p xmlns:a="http://schemas.openxmlformats.org/drawingml/2006/main">
            <a:pPr algn="l">
              <a:buNone/>
              <a:def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rPr>
              <a:t>Eight sample records show the exact field types Deck Refresh should map during a 1:1 data replacement.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Ticker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Johnson &amp; Johnson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NYSE:JNJ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Excellent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AAA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U.S. &amp; Canada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Microsoft Corporation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NasdaqGS:MSFT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Excellent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AAA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U.S. &amp; Canada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Deutsche Bahn AG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Strong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AA+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Europe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GasTerra B.V.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Strong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AA+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Europe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Airservices Australia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Satisfactory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AAA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Asia / Pacific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SMRT Corporation Ltd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Satisfactory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AA+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Asia / Pacific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Jardine Matheson Holdings Limited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SGX:J36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Strong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Latin America and Caribbean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Hongkong Land Holdings Limited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SGX:H78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Strong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latin typeface="Times New Roman"/>
                          <a:ea typeface="Times New Roman"/>
                          <a:cs typeface="Times New Roman"/>
                          <a:solidFill>
                            <a:srgbClr val="111827"/>
                          </a:solidFill>
                        </a:rPr>
                        <a:t>Latin America and Caribbean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307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6E96F1F-535E-4A7B-ABF8-F272F7A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986C826-6429-4808-98FF-8D29CA11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Workbook structure supports a 1:1 refresh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A5701EC-9A40-4F8A-AB7B-50A3C679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Replacement design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7797382-9852-493B-A2BC-4DC3C33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Screening sheet unchanged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B3F406F9-0246-4E9B-B725-015A809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C7BD1DEF-7AC5-4680-8FC8-A3B09886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companion workbook named new data screening preserves both sheet names, the seven-column header row, 1,810 data rows, date formatting, rating text, and geography labels.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Deck Refresh should match fields by header, then update native chart series, table cells, and summary text without rebuilding slide layouts.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DD8B309-B2A9-4CC9-B6CE-AFA8AB7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Screen Criteria unchanged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AF0BDEE-D16A-4190-A3E1-D4072549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F1BF115-73D9-4DEA-9EC9-6533BE85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Headers stay on row 8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02C782FA-FC44-41B8-9B9E-BCA1B15A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FE264660-579E-4A4A-A83A-3529971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stays in A9:G1818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11CE466D-7C2A-4D96-B9BE-4586604E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8A1A4090-9F45-4FD5-8CB9-D574BD08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Charts and tables stay native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01866FB-52C1-472E-BCFC-9F07466B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64833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338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9249C23-BCED-46E0-9EED-29FEFDCF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1:1 replacement ready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9BB06A7-3EB4-457A-864A-DD670BF9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Same sheets and headers</a:t>
            </a:r>
          </a:p>
          <a:p xmlns:a="http://schemas.openxmlformats.org/drawingml/2006/main">
            <a:pPr algn="l">
              <a:buNone/>
              <a:def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New values in every row</a:t>
            </a:r>
          </a:p>
          <a:p xmlns:a="http://schemas.openxmlformats.org/drawingml/2006/main">
            <a:pPr algn="l">
              <a:buNone/>
              <a:def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Native charts and tables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056B7FA-4FD8-445F-A21A-5301362F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rPr>
              <a:t>KPMG | DEAL ADVISORY</a:t>
            </a:r>
          </a:p>
        </p:txBody>
      </p:sp>
    </p:spTree>
    <p:extLst>
      <p:ext uri="{BB962C8B-B14F-4D97-AF65-F5344CB8AC3E}">
        <p14:creationId xmlns:p14="http://schemas.microsoft.com/office/powerpoint/2010/main" val="203945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2026-08-07T23:34:23.5880000Z</dcterms:created>
  <dcterms:modified xsi:type="dcterms:W3CDTF">2026-08-07T23:34:23.5880000Z</dcterms:modified>
</coreProperties>
</file>