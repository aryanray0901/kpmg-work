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>
                <a:solidFill>
                  <a:srgbClr val="F8FAFC"/>
                </a:solidFill>
                <a:latin typeface="Arial"/>
              </a:rPr>
              <a:t>Revenue by Capability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60A5FA"/>
            </a:solidFill>
            <a:ln>
              <a:solidFill>
                <a:srgbClr val="60A5FA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87</c:v>
                </c:pt>
                <c:pt idx="2">
                  <c:v>93</c:v>
                </c:pt>
                <c:pt idx="3">
                  <c:v>101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>
                <a:solidFill>
                  <a:srgbClr val="F8FAFC"/>
                </a:solidFill>
                <a:latin typeface="Arial"/>
              </a:rPr>
              <a:t>Delivery Reliability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60A5FA"/>
            </a:solidFill>
            <a:ln>
              <a:solidFill>
                <a:srgbClr val="60A5FA"/>
              </a:solidFill>
            </a:ln>
          </c:spP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82</c:v>
                </c:pt>
                <c:pt idx="2">
                  <c:v>84</c:v>
                </c:pt>
                <c:pt idx="3">
                  <c:v>87</c:v>
                </c:pt>
                <c:pt idx="4">
                  <c:v>90</c:v>
                </c:pt>
                <c:pt idx="5">
                  <c:v>92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>
                <a:solidFill>
                  <a:srgbClr val="F8FAFC"/>
                </a:solidFill>
                <a:latin typeface="Arial"/>
              </a:rPr>
              <a:t>Cloud Modernization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60A5FA"/>
            </a:solidFill>
            <a:ln>
              <a:solidFill>
                <a:srgbClr val="60A5FA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94</c:v>
                </c:pt>
                <c:pt idx="2">
                  <c:v>100</c:v>
                </c:pt>
                <c:pt idx="3">
                  <c:v>108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>
                <a:solidFill>
                  <a:srgbClr val="F8FAFC"/>
                </a:solidFill>
                <a:latin typeface="Arial"/>
              </a:rPr>
              <a:t>Cyber Resilience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60A5FA"/>
            </a:solidFill>
            <a:ln>
              <a:solidFill>
                <a:srgbClr val="60A5FA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95</c:v>
                </c:pt>
                <c:pt idx="2">
                  <c:v>101</c:v>
                </c:pt>
                <c:pt idx="3">
                  <c:v>109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>
                <a:solidFill>
                  <a:srgbClr val="F8FAFC"/>
                </a:solidFill>
                <a:latin typeface="Arial"/>
              </a:rPr>
              <a:t>Data and AI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60A5FA"/>
            </a:solidFill>
            <a:ln>
              <a:solidFill>
                <a:srgbClr val="60A5FA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96</c:v>
                </c:pt>
                <c:pt idx="2">
                  <c:v>102</c:v>
                </c:pt>
                <c:pt idx="3">
                  <c:v>110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>
                <a:solidFill>
                  <a:srgbClr val="F8FAFC"/>
                </a:solidFill>
                <a:latin typeface="Arial"/>
              </a:rPr>
              <a:t>Regional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60A5FA"/>
            </a:solidFill>
            <a:ln>
              <a:solidFill>
                <a:srgbClr val="60A5FA"/>
              </a:solidFill>
            </a:ln>
          </c:spPr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100</c:v>
                </c:pt>
                <c:pt idx="2">
                  <c:v>106</c:v>
                </c:pt>
                <c:pt idx="3">
                  <c:v>114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>
                <a:solidFill>
                  <a:srgbClr val="F8FAFC"/>
                </a:solidFill>
                <a:latin typeface="Arial"/>
              </a:rPr>
              <a:t>Client Satisfaction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60A5FA"/>
            </a:solidFill>
            <a:ln>
              <a:solidFill>
                <a:srgbClr val="60A5FA"/>
              </a:solidFill>
            </a:ln>
          </c:spP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82</c:v>
                </c:pt>
                <c:pt idx="2">
                  <c:v>84</c:v>
                </c:pt>
                <c:pt idx="3">
                  <c:v>87</c:v>
                </c:pt>
                <c:pt idx="4">
                  <c:v>90</c:v>
                </c:pt>
                <c:pt idx="5">
                  <c:v>92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Q3 Advisory Transformation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Steering committee decision pack | September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645920"/>
            <a:ext cx="9966960" cy="3474720"/>
          </a:xfrm>
          <a:prstGeom prst="roundRect">
            <a:avLst/>
          </a:prstGeom>
          <a:solidFill>
            <a:srgbClr val="1F2937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700" b="1">
                <a:solidFill>
                  <a:srgbClr val="E5E7EB"/>
                </a:solidFill>
                <a:latin typeface="Arial"/>
              </a:rPr>
              <a:t>Enterprise performance, delivery risks, and actions required for Q4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Executive Performance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Q3 actuals versus plan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46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Q2 Actual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Q3 Plan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Q3 Actual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Advisory revenue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$486.2M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$505.0M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$522.8M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+3.5%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Contribution margin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22.9%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23.8%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24.6%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+0.8 pts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Active engagements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1,214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1,250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1,286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+2.9%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On-time milestones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+2.0 pts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Critical risks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-20.0%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Strategic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What changed during the quarter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1F2937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Demand accelerated across cloud modernization, cyber resilience, and operating-model redesign, with the strongest pipeline conversion in regulated industries.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Delivery capacity remained constrained in data engineering and program management, increasing reliance on specialist contractors and offshore teams.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Client buying decisions shifted toward smaller phased commitments, creating more opportunities but increasing governance and coordination requirements.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Leadership aligned on a Q4 focus of margin protection, milestone reliability, and selective investment in the highest-growth capabilities.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Three issues require steering committee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1F2937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E5E7EB"/>
                </a:solidFill>
                <a:latin typeface="Arial"/>
              </a:rPr>
              <a:t>• Revenue exceeded plan by $17.8M, led by cloud transformation and cyber resilience programs.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5E7EB"/>
                </a:solidFill>
                <a:latin typeface="Arial"/>
              </a:rPr>
              <a:t>• Contribution margin improved 80 basis points, but contractor spend remains 12% above target.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5E7EB"/>
                </a:solidFill>
                <a:latin typeface="Arial"/>
              </a:rPr>
              <a:t>• Eight critical delivery risks remain open, concentrated in data migration, client dependencies, and resource availability.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5E7EB"/>
                </a:solidFill>
                <a:latin typeface="Arial"/>
              </a:rPr>
              <a:t>• Milestone performance reached 92%, the highest level in six quarters.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5E7EB"/>
                </a:solidFill>
                <a:latin typeface="Arial"/>
              </a:rPr>
              <a:t>• Cross-sell conversion improved from 18% to 23% after account planning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Operating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Delivery and commercial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1F2937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E5E7EB"/>
                </a:solidFill>
                <a:latin typeface="Arial"/>
              </a:rPr>
              <a:t>• Cloud modernization delivered $184M revenue and 27%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5E7EB"/>
                </a:solidFill>
                <a:latin typeface="Arial"/>
              </a:rPr>
              <a:t>• Cyber resilience delivered $126M revenue and 25%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5E7EB"/>
                </a:solidFill>
                <a:latin typeface="Arial"/>
              </a:rPr>
              <a:t>• Data and AI delivered $98M revenue and 21%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5E7EB"/>
                </a:solidFill>
                <a:latin typeface="Arial"/>
              </a:rPr>
              <a:t>• Operating model delivered $74M revenue and 22%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5E7EB"/>
                </a:solidFill>
                <a:latin typeface="Arial"/>
              </a:rPr>
              <a:t>• Managed services delivered $41M revenue and 19% margin.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Quarterly Revenue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Revenue progression by quarter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0" y="1463040"/>
          <a:ext cx="81381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/>
                <a:gridCol w="4069080"/>
              </a:tblGrid>
              <a:tr h="8229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Quarter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Revenue ($M)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Q4 2025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448.0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Q1 2026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462.5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Q2 2026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486.2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Q3 2026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522.8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Key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Current exposure and mitigation status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46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Likelihood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Data migration delay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Daily cutover governance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Specialist capacity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Accelerated hiring and vendor bench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Client dependency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Executive escalation path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Margin leakage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Weekly commercial review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Regulatory change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Policy monitoring and scenario plan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Recommended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Actions proposed for steering committee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1F2937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E5E7EB"/>
                </a:solidFill>
                <a:latin typeface="Arial"/>
              </a:rPr>
              <a:t>• Approve targeted specialist hiring for data engineering and program management.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5E7EB"/>
                </a:solidFill>
                <a:latin typeface="Arial"/>
              </a:rPr>
              <a:t>• Require recovery plans for every milestone with red or amber delivery status.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5E7EB"/>
                </a:solidFill>
                <a:latin typeface="Arial"/>
              </a:rPr>
              <a:t>• Expand contractor rate-card governance to protect Q4 margin.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5E7EB"/>
                </a:solidFill>
                <a:latin typeface="Arial"/>
              </a:rPr>
              <a:t>• Prioritize cloud and cyber pipeline conversion while limiting low-margin custom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Revenue by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Q3 revenue mix and growth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Margin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Primary drivers of margin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1F2937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Performance improved during Q3, with the strongest contribution from priority initiative 2.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Pipeline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Qualified pipeline and conversion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2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4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Client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Concentration and account momentum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1F2937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Performance improved during Q3, with the strongest contribution from priority initiative 4.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Delivery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Milestone performance by month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Resource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Demand versus available specialist capacity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2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73%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4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Contractor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Spend, rates, and utilization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1F2937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Performance improved during Q3, with the strongest contribution from priority initiative 7.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Cloud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Performance and outlook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Cyber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Performance and outlook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Data and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Performance and outlook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Performance and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1F2937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Performance improved during Q3, with the strongest contribution from priority initiative 11.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Managed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Performance and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1F2937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Performance improved during Q3, with the strongest contribution from priority initiative 12.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Cross-Sell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Conversion by priority account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103%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2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4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Regional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Revenue and margin by region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Client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NPS and executive feedback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417320"/>
          <a:ext cx="10241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Transformation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Status of major initiatives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106%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2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87%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4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Q4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Base, upside, and downside scenarios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107%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2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4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Decision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Approvals required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1F2937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Performance improved during Q3, with the strongest contribution from priority initiative 18.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90-Day 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Actions, owners, and timing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109%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2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Priority 4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Governance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Meeting and escalation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1F2937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Performance improved during Q3, with the strongest contribution from priority initiative 20.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Appendix: Metric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Definitions and calculation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1F2937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Performance improved during Q3, with the strongest contribution from priority initiative 21.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19456"/>
            <a:ext cx="676656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475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Advisory Transformation Steering Committee | Confidential |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6032"/>
            <a:ext cx="10515600" cy="502920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Closing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86384"/>
            <a:ext cx="10241280" cy="347472"/>
          </a:xfrm>
          <a:prstGeom prst="rect">
            <a:avLst/>
          </a:prstGeom>
          <a:solidFill>
            <a:srgbClr val="2563EB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Arial"/>
              </a:rPr>
              <a:t>Confirmed actions and follow-up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solidFill>
            <a:srgbClr val="1F2937"/>
          </a:solidFill>
          <a:ln>
            <a:solidFill>
              <a:srgbClr val="475569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Performance improved during Q3, with the strongest contribution from priority initiative 22.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current trajectory supports the base plan, subject to timely resolution of identified dependencies.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Leadership action is required to confirm ownership, timing, and resource allocation.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• The team will report progress through the weekly transformation governance cadence.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