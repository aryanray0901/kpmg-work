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Actual vs Q3 Budget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Actual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486.2</c:v>
                </c:pt>
                <c:pt idx="1">
                  <c:v>247.5</c:v>
                </c:pt>
                <c:pt idx="2">
                  <c:v>112.8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Budget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Sheet1!$A$2:$A$4</c:f>
              <c:strCache>
                <c:ptCount val="3"/>
                <c:pt idx="0">
                  <c:v>Advisory Revenue</c:v>
                </c:pt>
                <c:pt idx="1">
                  <c:v>Gross Contribution</c:v>
                </c:pt>
                <c:pt idx="2">
                  <c:v>Contribution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472.0</c:v>
                </c:pt>
                <c:pt idx="1">
                  <c:v>240.0</c:v>
                </c:pt>
                <c:pt idx="2">
                  <c:v>106.5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Service Line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Actual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142.6</c:v>
                </c:pt>
                <c:pt idx="1">
                  <c:v>128.4</c:v>
                </c:pt>
                <c:pt idx="2">
                  <c:v>121.7</c:v>
                </c:pt>
                <c:pt idx="3">
                  <c:v>93.5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Budget Revenue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136.0</c:v>
                </c:pt>
                <c:pt idx="1">
                  <c:v>126.5</c:v>
                </c:pt>
                <c:pt idx="2">
                  <c:v>119.0</c:v>
                </c:pt>
                <c:pt idx="3">
                  <c:v>90.5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Service Line Margins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Delivery Margin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56.4</c:v>
                </c:pt>
                <c:pt idx="1">
                  <c:v>52.8</c:v>
                </c:pt>
                <c:pt idx="2">
                  <c:v>49.6</c:v>
                </c:pt>
                <c:pt idx="3">
                  <c:v>45.9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Contribution Margin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Deal Advisory</c:v>
                </c:pt>
                <c:pt idx="1">
                  <c:v>Risk Consulting</c:v>
                </c:pt>
                <c:pt idx="2">
                  <c:v>Technology Consulting</c:v>
                </c:pt>
                <c:pt idx="3">
                  <c:v>Strategy &amp;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27.2</c:v>
                </c:pt>
                <c:pt idx="1">
                  <c:v>23.1</c:v>
                </c:pt>
                <c:pt idx="2">
                  <c:v>20.4</c:v>
                </c:pt>
                <c:pt idx="3">
                  <c:v>18.3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Engagement Funnel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New Engagements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72</c:v>
                </c:pt>
                <c:pt idx="2">
                  <c:v>61</c:v>
                </c:pt>
                <c:pt idx="3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Qualified Opportunities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Existing Clients</c:v>
                </c:pt>
                <c:pt idx="1">
                  <c:v>Strategic Partners</c:v>
                </c:pt>
                <c:pt idx="2">
                  <c:v>Digital Campaigns</c:v>
                </c:pt>
                <c:pt idx="3">
                  <c:v>Executive Events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284</c:v>
                </c:pt>
                <c:pt idx="1">
                  <c:v>208</c:v>
                </c:pt>
                <c:pt idx="2">
                  <c:v>196</c:v>
                </c:pt>
                <c:pt idx="3">
                  <c:v>102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Revenue and Contribution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Revenue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156.4</c:v>
                </c:pt>
                <c:pt idx="1">
                  <c:v>118.7</c:v>
                </c:pt>
                <c:pt idx="2">
                  <c:v>109.6</c:v>
                </c:pt>
                <c:pt idx="3">
                  <c:v>101.5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Contribution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Financial Services</c:v>
                </c:pt>
                <c:pt idx="1">
                  <c:v>Consumer &amp; Retail</c:v>
                </c:pt>
                <c:pt idx="2">
                  <c:v>Healthcare</c:v>
                </c:pt>
                <c:pt idx="3">
                  <c:v>Technology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39.8</c:v>
                </c:pt>
                <c:pt idx="1">
                  <c:v>26.1</c:v>
                </c:pt>
                <c:pt idx="2">
                  <c:v>24.2</c:v>
                </c:pt>
                <c:pt idx="3">
                  <c:v>22.7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0338D"/>
                </a:solidFill>
                <a:latin typeface="Aptos"/>
              </a:defRPr>
            </a:pPr>
            <a:r>
              <a:t>Q3 Practice Costs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Actual Costs</c:v>
                </c:pt>
              </c:strCache>
            </c:strRef>
          </c:tx>
          <c:spPr>
            <a:solidFill>
              <a:srgbClr val="005EB8"/>
            </a:solidFill>
            <a:ln>
              <a:solidFill>
                <a:srgbClr val="005EB8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39.8</c:v>
                </c:pt>
                <c:pt idx="1">
                  <c:v>32.6</c:v>
                </c:pt>
                <c:pt idx="2">
                  <c:v>29.4</c:v>
                </c:pt>
                <c:pt idx="3">
                  <c:v>32.9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Budget Costs</c:v>
                </c:pt>
              </c:strCache>
            </c:strRef>
          </c:tx>
          <c:spPr>
            <a:solidFill>
              <a:srgbClr val="0091DA"/>
            </a:solidFill>
            <a:ln>
              <a:solidFill>
                <a:srgbClr val="0091DA"/>
              </a:solidFill>
            </a:ln>
          </c:spPr>
          <c:cat>
            <c:strRef>
              <c:f>Sheet1!$A$2:$A$5</c:f>
              <c:strCache>
                <c:ptCount val="4"/>
                <c:pt idx="0">
                  <c:v>Business Development</c:v>
                </c:pt>
                <c:pt idx="1">
                  <c:v>Technology Enablement</c:v>
                </c:pt>
                <c:pt idx="2">
                  <c:v>Talent &amp; Learning</c:v>
                </c:pt>
                <c:pt idx="3">
                  <c:v>Practice Operations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38.5</c:v>
                </c:pt>
                <c:pt idx="1">
                  <c:v>31.8</c:v>
                </c:pt>
                <c:pt idx="2">
                  <c:v>30.2</c:v>
                </c:pt>
                <c:pt idx="3">
                  <c:v>33.0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E1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7432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KPMG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8686800" cy="914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Q3 FY2026 Advisory Practice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8138160" cy="914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500" b="0">
                <a:solidFill>
                  <a:srgbClr val="D7E4F5"/>
                </a:solidFill>
                <a:latin typeface="Aptos"/>
              </a:defRPr>
            </a:pPr>
            <a:r>
              <a:t>Fictional KPMG data for testing presentation updates, native tables, charts, formatting, and synchronized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9528" y="2423160"/>
            <a:ext cx="1920240" cy="11887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INTERNAL</a:t>
            </a:r>
            <a:br/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93808" y="388620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All figures are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$486.2M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Advisory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$112.8M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Profit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23.2%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1,148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Active Engagements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82.4%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Repeat Client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74.8%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Billable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Advisory practice performance versus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00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71600"/>
                <a:gridCol w="1371600"/>
              </a:tblGrid>
              <a:tr h="719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Actual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Budget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Advisory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$486.2M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$472.0M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Client Delivery Costs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$238.7M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$232.0M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Gross Contribution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$247.5M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$240.0M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Expenses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$134.7M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$133.5M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Contribution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$112.8M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$106.5M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Revenue by Service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KPMG advisory service-line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Actual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Budget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$142.6M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$136.0M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$128.4M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$126.5M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$121.7M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$119.0M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$93.5M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$90.5M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Service Line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Delivery and contribution margins by advisory service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Line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Delivery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Contribution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Deal Advisory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Risk Consulting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52.8%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23.1%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&amp;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45.9%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Client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Engagement growth and pursuit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286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New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73152" cy="12984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38.6%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Proposal Win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53312"/>
            <a:ext cx="73152" cy="129844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$18,450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Average Pursuit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53312"/>
            <a:ext cx="73152" cy="1298448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353312"/>
            <a:ext cx="2514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$42.8M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Expansion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53312"/>
            <a:ext cx="73152" cy="129844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2944368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28016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New Engagements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Qualified Opportunities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Average Pursuit Cost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Existing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Strategic Partners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$16,800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Digital Campaigns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$22,100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Executive Events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$27,600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27648" y="2944368"/>
          <a:ext cx="5248656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Sector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Revenue and contribution by client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5486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Sector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Revenue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Contribution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Margin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Financial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$156.4M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$39.8M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Consumer &amp; Retail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$118.7M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$26.1M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22.0%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Healthcare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$109.6M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$24.2M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$101.5M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$22.7M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22.4%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27648" y="1417320"/>
          <a:ext cx="5248656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Practice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Fictional advisory practice spend versus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4846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Actual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Q3 Budget Costs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Business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$39.8M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$38.5M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Technology Enablement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$32.6M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$31.8M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Talent &amp;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$29.4M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$30.2M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Practice Operations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$32.9M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$33.0M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50992" y="1417320"/>
          <a:ext cx="5925312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1381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Aptos"/>
              </a:defRPr>
            </a:pPr>
            <a:r>
              <a:t>Q3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896112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Forward indicators and fictional management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64240" cy="274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$522.0M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$126.5M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44752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24.2%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Contribution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44752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3.1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Pipeline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73152" cy="1600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$318.0M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Contracted Backlog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29584"/>
            <a:ext cx="73152" cy="16002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29584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73152">
            <a:no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Aptos Display"/>
              </a:defRPr>
            </a:pPr>
            <a:r>
              <a:t>78.5%</a:t>
            </a:r>
          </a:p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Forecast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73152" cy="1600200"/>
          </a:xfrm>
          <a:prstGeom prst="rect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4864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KPMG | Internal demonstration | Fictional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