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9e9fc7fde94383" /><Relationship Type="http://schemas.openxmlformats.org/officeDocument/2006/relationships/extended-properties" Target="/docProps/app.xml" Id="R29df29fb7a514235" /><Relationship Type="http://schemas.openxmlformats.org/officeDocument/2006/relationships/officeDocument" Target="/ppt/presentation.xml" Id="R605490e1a1d140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b614dfa97f40fe"/>
  </p:sldMasterIdLst>
  <p:notesMasterIdLst>
    <p:notesMasterId xmlns:r="http://schemas.openxmlformats.org/officeDocument/2006/relationships" r:id="R0d03756ec2e94557"/>
  </p:notesMasterIdLst>
  <p:sldIdLst>
    <p:sldId xmlns:r="http://schemas.openxmlformats.org/officeDocument/2006/relationships" id="256" r:id="R49a828cb8b224b67"/>
    <p:sldId xmlns:r="http://schemas.openxmlformats.org/officeDocument/2006/relationships" id="257" r:id="Rce4f1e668a9f410d"/>
    <p:sldId xmlns:r="http://schemas.openxmlformats.org/officeDocument/2006/relationships" id="258" r:id="R79f895c31d944849"/>
    <p:sldId xmlns:r="http://schemas.openxmlformats.org/officeDocument/2006/relationships" id="259" r:id="R095ad083d09a4ea8"/>
    <p:sldId xmlns:r="http://schemas.openxmlformats.org/officeDocument/2006/relationships" id="260" r:id="Re15368e1ff404d79"/>
    <p:sldId xmlns:r="http://schemas.openxmlformats.org/officeDocument/2006/relationships" id="261" r:id="R94c1babfffea44b8"/>
    <p:sldId xmlns:r="http://schemas.openxmlformats.org/officeDocument/2006/relationships" id="262" r:id="R0e9eaff736be462f"/>
    <p:sldId xmlns:r="http://schemas.openxmlformats.org/officeDocument/2006/relationships" id="263" r:id="R9fc0845da6c64331"/>
    <p:sldId xmlns:r="http://schemas.openxmlformats.org/officeDocument/2006/relationships" id="264" r:id="R2625cedfd3b543b3"/>
    <p:sldId xmlns:r="http://schemas.openxmlformats.org/officeDocument/2006/relationships" id="265" r:id="R5937279a892647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09d9bd70114118" /><Relationship Type="http://schemas.openxmlformats.org/officeDocument/2006/relationships/slideMaster" Target="/ppt/slideMasters/slideMaster1.xml" Id="R51b614dfa97f40fe" /><Relationship Type="http://schemas.openxmlformats.org/officeDocument/2006/relationships/notesMaster" Target="/ppt/notesMasters/notesMaster1.xml" Id="R0d03756ec2e94557" /><Relationship Type="http://schemas.openxmlformats.org/officeDocument/2006/relationships/presProps" Target="/ppt/presProps.xml" Id="Re4e0287fca684594" /><Relationship Type="http://schemas.openxmlformats.org/officeDocument/2006/relationships/tableStyles" Target="/ppt/tableStyles.xml" Id="R51febe05ba644966" /><Relationship Type="http://schemas.openxmlformats.org/officeDocument/2006/relationships/slide" Target="/ppt/slides/slide1.xml" Id="R49a828cb8b224b67" /><Relationship Type="http://schemas.openxmlformats.org/officeDocument/2006/relationships/slide" Target="/ppt/slides/slide2.xml" Id="Rce4f1e668a9f410d" /><Relationship Type="http://schemas.openxmlformats.org/officeDocument/2006/relationships/slide" Target="/ppt/slides/slide3.xml" Id="R79f895c31d944849" /><Relationship Type="http://schemas.openxmlformats.org/officeDocument/2006/relationships/slide" Target="/ppt/slides/slide4.xml" Id="R095ad083d09a4ea8" /><Relationship Type="http://schemas.openxmlformats.org/officeDocument/2006/relationships/slide" Target="/ppt/slides/slide5.xml" Id="Re15368e1ff404d79" /><Relationship Type="http://schemas.openxmlformats.org/officeDocument/2006/relationships/slide" Target="/ppt/slides/slide6.xml" Id="R94c1babfffea44b8" /><Relationship Type="http://schemas.openxmlformats.org/officeDocument/2006/relationships/slide" Target="/ppt/slides/slide7.xml" Id="R0e9eaff736be462f" /><Relationship Type="http://schemas.openxmlformats.org/officeDocument/2006/relationships/slide" Target="/ppt/slides/slide8.xml" Id="R9fc0845da6c64331" /><Relationship Type="http://schemas.openxmlformats.org/officeDocument/2006/relationships/slide" Target="/ppt/slides/slide9.xml" Id="R2625cedfd3b543b3" /><Relationship Type="http://schemas.openxmlformats.org/officeDocument/2006/relationships/slide" Target="/ppt/slides/slide10.xml" Id="R5937279a892647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bd2a17502f4d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016047c092492c" /><Relationship Type="http://schemas.openxmlformats.org/officeDocument/2006/relationships/notesMaster" Target="/ppt/notesMasters/notesMaster1.xml" Id="R103e89c3d9aa4f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a28dceef2047cd" /><Relationship Type="http://schemas.openxmlformats.org/officeDocument/2006/relationships/notesMaster" Target="/ppt/notesMasters/notesMaster1.xml" Id="R91c35c2ffe8d4f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ab9a2281824352" /><Relationship Type="http://schemas.openxmlformats.org/officeDocument/2006/relationships/notesMaster" Target="/ppt/notesMasters/notesMaster1.xml" Id="R98ab60eb90d148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930695db06464a" /><Relationship Type="http://schemas.openxmlformats.org/officeDocument/2006/relationships/notesMaster" Target="/ppt/notesMasters/notesMaster1.xml" Id="R3adc479300d14c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c888af0c9c4d2e" /><Relationship Type="http://schemas.openxmlformats.org/officeDocument/2006/relationships/notesMaster" Target="/ppt/notesMasters/notesMaster1.xml" Id="R4df95bbbde364a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758be5e68e4f3a" /><Relationship Type="http://schemas.openxmlformats.org/officeDocument/2006/relationships/notesMaster" Target="/ppt/notesMasters/notesMaster1.xml" Id="R5baa6d3ee64945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913c77ab8842b5" /><Relationship Type="http://schemas.openxmlformats.org/officeDocument/2006/relationships/notesMaster" Target="/ppt/notesMasters/notesMaster1.xml" Id="R8e1d2067a6ff41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00c6730a9e448f" /><Relationship Type="http://schemas.openxmlformats.org/officeDocument/2006/relationships/notesMaster" Target="/ppt/notesMasters/notesMaster1.xml" Id="R3ad9c27bfa2a4b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3254c25dd54b4f" /><Relationship Type="http://schemas.openxmlformats.org/officeDocument/2006/relationships/notesMaster" Target="/ppt/notesMasters/notesMaster1.xml" Id="R47670db8be5e42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1c9aa1d47d440a" /><Relationship Type="http://schemas.openxmlformats.org/officeDocument/2006/relationships/notesMaster" Target="/ppt/notesMasters/notesMaster1.xml" Id="R8c06f4ea4b404b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The_Goldman_Sachs_Group_Inc_-_Form_424B2(Mar-26-2026).xls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The_Goldman_Sachs_Group_Inc_-_Form_424B2(Mar-26-2026).xls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The_Goldman_Sachs_Group_Inc_-_Form_424B2(Mar-26-2026).xls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The_Goldman_Sachs_Group_Inc_-_Form_424B2(Mar-26-2026).xls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The_Goldman_Sachs_Group_Inc_-_Form_424B2(Mar-26-2026).xls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The_Goldman_Sachs_Group_Inc_-_Form_424B2(Mar-26-2026).xls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The_Goldman_Sachs_Group_Inc_-_Form_424B2(Mar-26-2026).xls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The_Goldman_Sachs_Group_Inc_-_Form_424B2(Mar-26-2026).xls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The_Goldman_Sachs_Group_Inc_-_Form_424B2(Mar-26-2026).xls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workbook: The_Goldman_Sachs_Group_Inc_-_Form_424B2(Mar-26-2026).xls</a:t>
            </a:r>
          </a:p>
          <a:p xmlns:a="http://schemas.openxmlformats.org/drawingml/2006/main">
            <a:r>
              <a:t>- KPMG visual direction and Times New Roman typography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7c8d1d9d540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bd6ee64e0e4128" /><Relationship Type="http://schemas.openxmlformats.org/officeDocument/2006/relationships/slideLayout" Target="/ppt/slideLayouts/slideLayout1.xml" Id="R1880c57b48da4b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80c57b48da4b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65190740e4c9c" /><Relationship Type="http://schemas.openxmlformats.org/officeDocument/2006/relationships/notesSlide" Target="/ppt/notesSlides/notesSlide1.xml" Id="R37d334afad924a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93a35ae694fe2" /><Relationship Type="http://schemas.openxmlformats.org/officeDocument/2006/relationships/notesSlide" Target="/ppt/notesSlides/notesSlide2.xml" Id="Ra5785ade433b4c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57ca3b8aa41d1" /><Relationship Type="http://schemas.openxmlformats.org/officeDocument/2006/relationships/chart" Target="/ppt/slides/charts/chart1.xml" Id="R042a37fecf42482f" /><Relationship Type="http://schemas.openxmlformats.org/officeDocument/2006/relationships/notesSlide" Target="/ppt/notesSlides/notesSlide3.xml" Id="R530e190b995741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03fd9b33e4c98" /><Relationship Type="http://schemas.openxmlformats.org/officeDocument/2006/relationships/chart" Target="/ppt/slides/charts/chart2.xml" Id="Ra72521b3bbe9407e" /><Relationship Type="http://schemas.openxmlformats.org/officeDocument/2006/relationships/notesSlide" Target="/ppt/notesSlides/notesSlide4.xml" Id="Rd86e24c9b01447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5575fcc434ad3" /><Relationship Type="http://schemas.openxmlformats.org/officeDocument/2006/relationships/chart" Target="/ppt/slides/charts/chart3.xml" Id="R3f36902a44b94fb9" /><Relationship Type="http://schemas.openxmlformats.org/officeDocument/2006/relationships/notesSlide" Target="/ppt/notesSlides/notesSlide5.xml" Id="Re4dc675e1c1b47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6deffd9084eca" /><Relationship Type="http://schemas.openxmlformats.org/officeDocument/2006/relationships/notesSlide" Target="/ppt/notesSlides/notesSlide6.xml" Id="R1fcd7535d1234a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69f5f04994bab" /><Relationship Type="http://schemas.openxmlformats.org/officeDocument/2006/relationships/notesSlide" Target="/ppt/notesSlides/notesSlide7.xml" Id="Rf9ee8ba0468b49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1f4bd10644602" /><Relationship Type="http://schemas.openxmlformats.org/officeDocument/2006/relationships/notesSlide" Target="/ppt/notesSlides/notesSlide8.xml" Id="R09266fc17f8a45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0b32a04284195" /><Relationship Type="http://schemas.openxmlformats.org/officeDocument/2006/relationships/notesSlide" Target="/ppt/notesSlides/notesSlide9.xml" Id="R9640bb1c5cda40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2bc560be44dad" /><Relationship Type="http://schemas.openxmlformats.org/officeDocument/2006/relationships/notesSlide" Target="/ppt/notesSlides/notesSlide10.xml" Id="R3c2f9fabeaa6414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Actual coupons ($)</c:v>
          </c:tx>
          <c:spPr>
            <a:solidFill xmlns:a="http://schemas.openxmlformats.org/drawingml/2006/main">
              <a:srgbClr val="00338D"/>
            </a:solidFill>
            <a:ln xmlns:a="http://schemas.openxmlformats.org/drawingml/2006/main" w="28575">
              <a:solidFill>
                <a:srgbClr val="00338D"/>
              </a:solidFill>
              <a:prstDash val="solid"/>
            </a:ln>
          </c:spPr>
          <c:cat>
            <c:strLit>
              <c:ptCount val="3"/>
              <c:pt idx="0">
                <c:v>Scenario 1</c:v>
              </c:pt>
              <c:pt idx="1">
                <c:v>Scenario 2</c:v>
              </c:pt>
              <c:pt idx="2">
                <c:v>Scenario 3</c:v>
              </c:pt>
            </c:strLit>
          </c:cat>
          <c:val>
            <c:numLit>
              <c:formatCode>$0.00</c:formatCode>
              <c:ptCount val="3"/>
              <c:pt idx="0">
                <c:v>21.334</c:v>
              </c:pt>
              <c:pt idx="1">
                <c:v>0</c:v>
              </c:pt>
              <c:pt idx="2">
                <c:v>10.667</c:v>
              </c:pt>
            </c:numLit>
          </c:val>
        </c:ser>
        <c:ser>
          <c:idx val="1"/>
          <c:order val="1"/>
          <c:tx>
            <c:v>Maximum coupons ($)</c:v>
          </c:tx>
          <c:spPr>
            <a:solidFill xmlns:a="http://schemas.openxmlformats.org/drawingml/2006/main">
              <a:srgbClr val="0091DA"/>
            </a:solidFill>
            <a:ln xmlns:a="http://schemas.openxmlformats.org/drawingml/2006/main" w="28575">
              <a:solidFill>
                <a:srgbClr val="0091DA"/>
              </a:solidFill>
              <a:prstDash val="solid"/>
            </a:ln>
          </c:spPr>
          <c:cat>
            <c:strLit>
              <c:ptCount val="3"/>
              <c:pt idx="0">
                <c:v>Scenario 1</c:v>
              </c:pt>
              <c:pt idx="1">
                <c:v>Scenario 2</c:v>
              </c:pt>
              <c:pt idx="2">
                <c:v>Scenario 3</c:v>
              </c:pt>
            </c:strLit>
          </c:cat>
          <c:val>
            <c:numLit>
              <c:formatCode>$0.00</c:formatCode>
              <c:ptCount val="3"/>
              <c:pt idx="0">
                <c:v>138.671</c:v>
              </c:pt>
              <c:pt idx="1">
                <c:v>138.671</c:v>
              </c:pt>
              <c:pt idx="2">
                <c:v>64.002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2B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7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7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5"/>
              </a:solidFill>
              <a:prstDash val="solid"/>
            </a:ln>
          </c:spPr>
        </c:majorGridlines>
        <c:numFmt formatCode="$0"/>
        <c:majorTickMark val="none"/>
        <c:minorTickMark val="none"/>
        <c:spPr>
          <a:ln xmlns:a="http://schemas.openxmlformats.org/drawingml/2006/main" w="9525">
            <a:solidFill>
              <a:srgbClr val="C8D7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7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3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Scenario 1</c:v>
          </c:tx>
          <c:spPr>
            <a:solidFill xmlns:a="http://schemas.openxmlformats.org/drawingml/2006/main">
              <a:srgbClr val="00338D"/>
            </a:solidFill>
            <a:ln xmlns:a="http://schemas.openxmlformats.org/drawingml/2006/main" w="28575">
              <a:solidFill>
                <a:srgbClr val="00338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6"/>
              <c:pt idx="0">
                <c:v>First</c:v>
              </c:pt>
              <c:pt idx="1">
                <c:v>Second</c:v>
              </c:pt>
              <c:pt idx="2">
                <c:v>Third</c:v>
              </c:pt>
              <c:pt idx="3">
                <c:v>Fourth</c:v>
              </c:pt>
              <c:pt idx="4">
                <c:v>Fifth</c:v>
              </c:pt>
              <c:pt idx="5">
                <c:v>Sixth</c:v>
              </c:pt>
            </c:strLit>
          </c:cat>
          <c:val>
            <c:numLit>
              <c:formatCode>0%</c:formatCode>
              <c:ptCount val="6"/>
              <c:pt idx="0">
                <c:v>0.45</c:v>
              </c:pt>
              <c:pt idx="1">
                <c:v>0.8</c:v>
              </c:pt>
              <c:pt idx="2">
                <c:v>0.4</c:v>
              </c:pt>
              <c:pt idx="3">
                <c:v>0.45</c:v>
              </c:pt>
              <c:pt idx="4">
                <c:v>0.9</c:v>
              </c:pt>
              <c:pt idx="5">
                <c:v>0.35</c:v>
              </c:pt>
            </c:numLit>
          </c:val>
        </c:ser>
        <c:ser>
          <c:idx val="1"/>
          <c:order val="1"/>
          <c:tx>
            <c:v>Scenario 2</c:v>
          </c:tx>
          <c:spPr>
            <a:solidFill xmlns:a="http://schemas.openxmlformats.org/drawingml/2006/main">
              <a:srgbClr val="0091DA"/>
            </a:solidFill>
            <a:ln xmlns:a="http://schemas.openxmlformats.org/drawingml/2006/main" w="28575">
              <a:solidFill>
                <a:srgbClr val="0091DA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0EDFA"/>
              </a:solidFill>
            </c:spPr>
          </c:marker>
          <c:cat>
            <c:strLit>
              <c:ptCount val="6"/>
              <c:pt idx="0">
                <c:v>First</c:v>
              </c:pt>
              <c:pt idx="1">
                <c:v>Second</c:v>
              </c:pt>
              <c:pt idx="2">
                <c:v>Third</c:v>
              </c:pt>
              <c:pt idx="3">
                <c:v>Fourth</c:v>
              </c:pt>
              <c:pt idx="4">
                <c:v>Fifth</c:v>
              </c:pt>
              <c:pt idx="5">
                <c:v>Sixth</c:v>
              </c:pt>
            </c:strLit>
          </c:cat>
          <c:val>
            <c:numLit>
              <c:formatCode>0%</c:formatCode>
              <c:ptCount val="6"/>
              <c:pt idx="0">
                <c:v>0.35</c:v>
              </c:pt>
              <c:pt idx="1">
                <c:v>0.4</c:v>
              </c:pt>
              <c:pt idx="2">
                <c:v>0.35</c:v>
              </c:pt>
              <c:pt idx="3">
                <c:v>0.45</c:v>
              </c:pt>
              <c:pt idx="4">
                <c:v>0.4</c:v>
              </c:pt>
              <c:pt idx="5">
                <c:v>0.45</c:v>
              </c:pt>
            </c:numLit>
          </c:val>
        </c:ser>
        <c:ser>
          <c:idx val="2"/>
          <c:order val="2"/>
          <c:tx>
            <c:v>Scenario 3</c:v>
          </c:tx>
          <c:spPr>
            <a:solidFill xmlns:a="http://schemas.openxmlformats.org/drawingml/2006/main">
              <a:srgbClr val="4B9B69"/>
            </a:solidFill>
            <a:ln xmlns:a="http://schemas.openxmlformats.org/drawingml/2006/main" w="28575">
              <a:solidFill>
                <a:srgbClr val="4B9B69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First</c:v>
              </c:pt>
              <c:pt idx="1">
                <c:v>Second</c:v>
              </c:pt>
              <c:pt idx="2">
                <c:v>Third</c:v>
              </c:pt>
              <c:pt idx="3">
                <c:v>Fourth</c:v>
              </c:pt>
              <c:pt idx="4">
                <c:v>Fifth</c:v>
              </c:pt>
              <c:pt idx="5">
                <c:v>Sixth</c:v>
              </c:pt>
            </c:strLit>
          </c:cat>
          <c:val>
            <c:numLit>
              <c:formatCode>0%</c:formatCode>
              <c:ptCount val="6"/>
              <c:pt idx="0">
                <c:v>0.4</c:v>
              </c:pt>
              <c:pt idx="1">
                <c:v>0.25</c:v>
              </c:pt>
              <c:pt idx="2">
                <c:v>0.5</c:v>
              </c:pt>
              <c:pt idx="3">
                <c:v>0.45</c:v>
              </c:pt>
              <c:pt idx="4">
                <c:v>0.55</c:v>
              </c:pt>
              <c:pt idx="5">
                <c:v>1.2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2B4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7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7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8D7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7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3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Observations</c:v>
          </c:tx>
          <c:spPr>
            <a:solidFill xmlns:a="http://schemas.openxmlformats.org/drawingml/2006/main">
              <a:srgbClr val="00338D"/>
            </a:solidFill>
            <a:ln xmlns:a="http://schemas.openxmlformats.org/drawingml/2006/main" w="28575">
              <a:solidFill>
                <a:srgbClr val="00338D"/>
              </a:solidFill>
              <a:prstDash val="solid"/>
            </a:ln>
          </c:spPr>
          <c:cat>
            <c:strLit>
              <c:ptCount val="3"/>
              <c:pt idx="0">
                <c:v>Below 50%</c:v>
              </c:pt>
              <c:pt idx="1">
                <c:v>50% to 69.9%</c:v>
              </c:pt>
              <c:pt idx="2">
                <c:v>70% or higher</c:v>
              </c:pt>
            </c:strLit>
          </c:cat>
          <c:val>
            <c:numLit>
              <c:formatCode>#,##0</c:formatCode>
              <c:ptCount val="3"/>
              <c:pt idx="0">
                <c:v>13</c:v>
              </c:pt>
              <c:pt idx="1">
                <c:v>16</c:v>
              </c:pt>
              <c:pt idx="2">
                <c:v>3</c:v>
              </c:pt>
            </c:numLit>
          </c:val>
        </c:ser>
        <c:ser>
          <c:idx val="1"/>
          <c:order val="1"/>
          <c:tx>
            <c:v>Coupon-paying</c:v>
          </c:tx>
          <c:spPr>
            <a:solidFill xmlns:a="http://schemas.openxmlformats.org/drawingml/2006/main">
              <a:srgbClr val="0091DA"/>
            </a:solidFill>
            <a:ln xmlns:a="http://schemas.openxmlformats.org/drawingml/2006/main" w="28575">
              <a:solidFill>
                <a:srgbClr val="0091DA"/>
              </a:solidFill>
              <a:prstDash val="solid"/>
            </a:ln>
          </c:spPr>
          <c:cat>
            <c:strLit>
              <c:ptCount val="3"/>
              <c:pt idx="0">
                <c:v>Below 50%</c:v>
              </c:pt>
              <c:pt idx="1">
                <c:v>50% to 69.9%</c:v>
              </c:pt>
              <c:pt idx="2">
                <c:v>70% or higher</c:v>
              </c:pt>
            </c:strLit>
          </c:cat>
          <c:val>
            <c:numLit>
              <c:formatCode>#,##0</c:formatCode>
              <c:ptCount val="3"/>
              <c:pt idx="0">
                <c:v>0</c:v>
              </c:pt>
              <c:pt idx="1">
                <c:v>0</c:v>
              </c:pt>
              <c:pt idx="2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2B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7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7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5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8D7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7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3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38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B47EE5EF-F001-42A8-B225-A4BA7F98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100012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Autocallable Contingent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Coupon Note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4DEA200-7B30-4CB5-A76C-F9E4A40F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E8F3F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E8F3FB"/>
                </a:solidFill>
                <a:latin typeface="Times New Roman"/>
                <a:ea typeface="Times New Roman"/>
                <a:cs typeface="Times New Roman"/>
              </a:rPr>
              <a:t>Q3 client presentation | Form 424B2 | September 30, 2026 | Confidential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9A15B8F-3A91-466F-A0C9-8C2819EC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FE8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BFE8FF"/>
                </a:solidFill>
                <a:latin typeface="Times New Roman"/>
                <a:ea typeface="Times New Roman"/>
                <a:cs typeface="Times New Roman"/>
              </a:rPr>
              <a:t>KPMG | DEAL ADVISORY</a:t>
            </a:r>
          </a:p>
        </p:txBody>
      </p:sp>
    </p:spTree>
    <p:extLst>
      <p:ext uri="{BB962C8B-B14F-4D97-AF65-F5344CB8AC3E}">
        <p14:creationId xmlns:p14="http://schemas.microsoft.com/office/powerpoint/2010/main" val="11329195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D86EA159-6CCF-4AA6-81CA-C9C7C92A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75C2562-B092-4B57-9732-114A7384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2D5C3EE-7C1E-4207-B33D-BD63F875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DB126ECB-3A9E-4A89-ADB9-D62D758F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4999327-CEBD-4731-ACB0-4D301BB0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solidFill>
              <a:srgbClr val="EAF2FA"/>
            </a:solidFill>
            <a:prstDash val="solid"/>
          </a:ln>
        </p:spPr>
        <p:txBody>
          <a:bodyPr xmlns:a="http://schemas.openxmlformats.org/drawingml/2006/main" wrap="non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rPr>
              <a:t>Coupon value is concentrated in three high-price observations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C102F16-9025-482C-B25A-4955692D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hypothetical scenarios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8367FAE-2733-4F37-BE18-128D0AE4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coupon-paying dates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64EAE52A-670E-47C4-8251-92499FAA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observation dates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C3FFDBF0-AD67-45A1-A78D-9351E2B9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881D64D7-CBDB-4F1E-BD1F-8757E96A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32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3E0DC4B-5243-4436-828B-9D85FEEC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9.4%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61145F0-B57E-43E7-B7EB-F484695E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rPr>
              <a:t>Executive summary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rPr>
              <a:t>Across three hypothetical scenarios, only three of 32 observation dates produce coupons. The remaining price paths generate no payout in the source tables.</a:t>
            </a:r>
          </a:p>
        </p:txBody>
      </p:sp>
    </p:spTree>
    <p:extLst>
      <p:ext uri="{BB962C8B-B14F-4D97-AF65-F5344CB8AC3E}">
        <p14:creationId xmlns:p14="http://schemas.microsoft.com/office/powerpoint/2010/main" val="757876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402B921-8697-4B0F-8FFB-F4C1BBA2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35C55AF-C200-451A-B87C-A15C8052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solidFill>
              <a:srgbClr val="EAF2FA"/>
            </a:solidFill>
            <a:prstDash val="solid"/>
          </a:ln>
        </p:spPr>
        <p:txBody>
          <a:bodyPr xmlns:a="http://schemas.openxmlformats.org/drawingml/2006/main" wrap="non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rPr>
              <a:t>Scenario 1 pays; Scenario 2: $0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D16BB0D4-9CA8-4B63-934D-75B7E2D2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670C54B-D1FE-4372-8385-DC7853BD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Scenario 2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 13 dates remain at 60% or below, producing zero coupon.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96E23D09-6C05-424E-B42E-BA292D69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A91C76B-41BD-494B-B3FF-7AF0AE7E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658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Scenario 1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$21.33 of coupons, equal to two $10.67 payments.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FBA53E8F-84B6-4807-871B-7BA661C9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39605EF3-BC3D-4342-8A7D-088DB377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48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Scenario 3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120% closing-price observation produces one $10.67 coupon.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2a37fecf42482f"/>
          </a:graphicData>
        </a:graphic>
      </p:graphicFrame>
    </p:spTree>
    <p:extLst>
      <p:ext uri="{BB962C8B-B14F-4D97-AF65-F5344CB8AC3E}">
        <p14:creationId xmlns:p14="http://schemas.microsoft.com/office/powerpoint/2010/main" val="5174028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ABF4BF5-AA4C-4A4D-B47C-B8AB8851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731497A-F92F-49F5-932B-769D62BE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solidFill>
              <a:srgbClr val="EAF2FA"/>
            </a:solidFill>
            <a:prstDash val="solid"/>
          </a:ln>
        </p:spPr>
        <p:txBody>
          <a:bodyPr xmlns:a="http://schemas.openxmlformats.org/drawingml/2006/main" wrap="non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rPr>
              <a:t>Scenario paths diverge by the sixth observation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2EB8D865-FCA9-4F73-92C0-04FADBA7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E74F3383-BBEA-49AE-BD58-D62290C1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120%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78B2650D-8E7C-4F67-8D0A-BCCB77B0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Scenario 3 peak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EDEFE739-6E00-460A-A007-9D6E1424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3F6BABF0-ACFB-488C-8735-0CA3D60D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35%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186ECAC-3AC4-49B6-9C19-FE66DC3F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Scenario 2 low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2DC4BB20-678A-4994-83F5-DAEE8F90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Scenario 3 rises to 120% at the sixth observation. Scenarios 1 and 2 remain below 90% and 60%, respectively, during the same window.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2521b3bbe9407e"/>
          </a:graphicData>
        </a:graphic>
      </p:graphicFrame>
    </p:spTree>
    <p:extLst>
      <p:ext uri="{BB962C8B-B14F-4D97-AF65-F5344CB8AC3E}">
        <p14:creationId xmlns:p14="http://schemas.microsoft.com/office/powerpoint/2010/main" val="5264172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35E4A3A-268A-4ADF-84A0-94F76674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E8314C1-B813-4783-9E15-A9A9B863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solidFill>
              <a:srgbClr val="EAF2FA"/>
            </a:solidFill>
            <a:prstDash val="solid"/>
          </a:ln>
        </p:spPr>
        <p:txBody>
          <a:bodyPr xmlns:a="http://schemas.openxmlformats.org/drawingml/2006/main" wrap="non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rPr>
              <a:t>All coupon-paying observations occur at 70% or higher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A4E0E978-3ABC-4CCB-89CC-E414A63C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9.4%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61B66C94-C0DD-4F32-B3F9-C76EC7B6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overall pay rate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5EAE239-A083-4AC9-A3F7-AFD9EA53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8B047A83-F763-4987-B918-2D82FE4A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 payments in top band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8EE7F1C4-8B8A-40B0-8F8C-11235C72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24BFAD76-0FED-4582-80D3-9523C9D3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105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source examples show a sharp payoff break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Thirteen observations fall below 50%, sixteen fall between 50% and 69.9%, and three reach 70% or higher. Only the highest band pays coupons.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36902a44b94fb9"/>
          </a:graphicData>
        </a:graphic>
      </p:graphicFrame>
    </p:spTree>
    <p:extLst>
      <p:ext uri="{BB962C8B-B14F-4D97-AF65-F5344CB8AC3E}">
        <p14:creationId xmlns:p14="http://schemas.microsoft.com/office/powerpoint/2010/main" val="553333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317CCE1-9C1E-48AE-8610-4102E0AD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9212E45-599C-4F18-8964-B14163C7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solidFill>
              <a:srgbClr val="EAF2FA"/>
            </a:solidFill>
            <a:prstDash val="solid"/>
          </a:ln>
        </p:spPr>
        <p:txBody>
          <a:bodyPr xmlns:a="http://schemas.openxmlformats.org/drawingml/2006/main" wrap="non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rPr>
              <a:t>Scenario outcomes are asymmetric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301B9BBF-7325-4A46-B671-97BA58ED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263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2637A"/>
                </a:solidFill>
                <a:latin typeface="Times New Roman"/>
                <a:ea typeface="Times New Roman"/>
                <a:cs typeface="Times New Roman"/>
              </a:rPr>
              <a:t>Scenario comparison</a:t>
            </a:r>
          </a:p>
          <a:p xmlns:a="http://schemas.openxmlformats.org/drawingml/2006/main">
            <a:pPr algn="l">
              <a:buNone/>
              <a:defRPr sz="1200">
                <a:solidFill>
                  <a:srgbClr val="5263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2637A"/>
                </a:solidFill>
                <a:latin typeface="Times New Roman"/>
                <a:ea typeface="Times New Roman"/>
                <a:cs typeface="Times New Roman"/>
              </a:rPr>
              <a:t>The summary keeps all measures tied to the original rows, including the six dates represented by Eighth through Thirteenth.</a:t>
            </a:r>
          </a:p>
        </p:txBody>
      </p:sp>
      <p:graphicFrame>
        <p:nvGraphicFramePr>
          <p:cNvPr id="10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Scenario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Observations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Average price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Paying dates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 coupons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Scenario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53.5%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$21.33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Scenario 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46.2%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$0.00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Scenario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55.8%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$10.67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Combined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50.9%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$32.00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Lowest price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Highest price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Source rows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3542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9716E8F-414C-47D8-9DE0-A648B252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C19F786-B9D7-4728-A7C1-FAFEFBE1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solidFill>
              <a:srgbClr val="EAF2FA"/>
            </a:solidFill>
            <a:prstDash val="solid"/>
          </a:ln>
        </p:spPr>
        <p:txBody>
          <a:bodyPr xmlns:a="http://schemas.openxmlformats.org/drawingml/2006/main" wrap="non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rPr>
              <a:t>Conditional income comes with downside exposure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E8AFEC2-16B6-4900-9B42-FC061B4A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rPr>
              <a:t>Economic mechanics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F82AD9F-FFF4-4520-A28E-6B8421A7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Conditional coupon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5C262D6B-9BFA-4C60-AF54-ED35A41F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A92D52C9-5A23-4112-8350-AE202C75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Coupon income appears only in favorable index-stock observations. Weak paths in the hypothetical tables produce no coupon, while the documentation devotes separate sections to default amount, risks, hedging, taxation, distribution, and conflicts.</a:t>
            </a:r>
          </a:p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product therefore exchanges predictable income for contingent income linked to the index stock’s closing-price path.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9C1D0C0-FFD5-44E6-A511-AB197ECB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Autocallable structure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8924B7BE-DDF4-4FCA-BC54-4976887A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D7AFB0DA-456E-496C-AA67-0CDD0CF1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Index-stock exposure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70BE0735-B8F4-4FF8-824F-819D3AF1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25547F84-22AA-469B-9CB7-21F80542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Acceleration risk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00749164-488B-4735-A4CA-23F855CE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47B68256-EF15-466D-A133-A147A07E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Tax and distribution terms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280E42D2-D2F3-49FC-9313-CF847397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9052718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8A1BEE9-749E-4F0C-9C95-260E258A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70F96A6-7397-4305-A24A-EDB3EB14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solidFill>
              <a:srgbClr val="EAF2FA"/>
            </a:solidFill>
            <a:prstDash val="solid"/>
          </a:ln>
        </p:spPr>
        <p:txBody>
          <a:bodyPr xmlns:a="http://schemas.openxmlformats.org/drawingml/2006/main" wrap="non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rPr>
              <a:t>The filing separates payoff, risk, tax, and distribution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998077F-B09A-4B0A-A485-667AB9C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263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2637A"/>
                </a:solidFill>
                <a:latin typeface="Times New Roman"/>
                <a:ea typeface="Times New Roman"/>
                <a:cs typeface="Times New Roman"/>
              </a:rPr>
              <a:t>Documentation map</a:t>
            </a:r>
          </a:p>
          <a:p xmlns:a="http://schemas.openxmlformats.org/drawingml/2006/main">
            <a:pPr algn="l">
              <a:buNone/>
              <a:defRPr sz="1200">
                <a:solidFill>
                  <a:srgbClr val="5263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2637A"/>
                </a:solidFill>
                <a:latin typeface="Times New Roman"/>
                <a:ea typeface="Times New Roman"/>
                <a:cs typeface="Times New Roman"/>
              </a:rPr>
              <a:t>Eight sections provide the main review path for product economics and investor risk.</a:t>
            </a:r>
          </a:p>
        </p:txBody>
      </p:sp>
      <p:graphicFrame>
        <p:nvGraphicFramePr>
          <p:cNvPr id="10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Section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Page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 focus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Deck object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Replacement key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Terms and Conditions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S- 3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Payoff mechanics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Table 4 row 9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Default Amount on Acceleration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S- 11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Payoff mechanics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Table 4 row 10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Hypothetical Examples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S- 12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Payoff mechanics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Table 4 row 11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Additional Risk Factors Specific 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S- 20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Risk and hedging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Table 4 row 12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of Proceeds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S- 29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Risk and hedging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Table 4 row 13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Hedging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S- 29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Risk and hedging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Table 4 row 14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 Index Stock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S- 30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Tax / distribution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Table 4 row 15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Supplemental Discussion of U.S. Fe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S- 32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Tax / distribution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Table 4 row 16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26464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1C492F1-5311-4D03-823B-CCFA7877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5EB8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BEACB3D-AA55-4DF9-AB08-1388518E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solidFill>
              <a:srgbClr val="EAF2FA"/>
            </a:solidFill>
            <a:prstDash val="solid"/>
          </a:ln>
        </p:spPr>
        <p:txBody>
          <a:bodyPr xmlns:a="http://schemas.openxmlformats.org/drawingml/2006/main" wrap="non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0338D"/>
                </a:solidFill>
                <a:latin typeface="Times New Roman"/>
                <a:ea typeface="Times New Roman"/>
                <a:cs typeface="Times New Roman"/>
              </a:rPr>
              <a:t>Replacement workbook preserves every source anchor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BAE93B2-DD2A-4A59-BBC9-24747230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02664"/>
                </a:solidFill>
                <a:latin typeface="Times New Roman"/>
                <a:ea typeface="Times New Roman"/>
                <a:cs typeface="Times New Roman"/>
              </a:rPr>
              <a:t>Replacement design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0DCF6E7-0249-435B-BC76-BFB72E33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6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Four sheet names unchanged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76785302-226A-4058-9DD6-4F4F48F0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6C3CBC6D-B11B-4747-8DA4-AD146A4F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companion workbook named new goldman sachs keeps Table 1 through Table 4, the metadata rows, observation labels, percentage columns, currency columns, totals rows, and table-of-contents structure.</a:t>
            </a:r>
          </a:p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Deck Refresh should detect matching headers and ranges, then update the native chart series, tables, metrics, and narrative text without moving slide objects.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9E12CBD-762D-465B-91BE-CC3E63BB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Headers stay on row 7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A4AF1C41-5206-4E8A-BD22-1F6C9A29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45ACB4CC-B4BA-4CC7-8D50-A70B81E7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Percentages remain numeric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143954EF-F390-4EA5-B747-1D0A3502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8999D584-B441-48E4-BBA2-BE17D37C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Coupons remain currency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BF48481D-0B86-41F7-968F-E3F74CE5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D0D5833B-71D1-42D2-A5BB-255FA25C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Totals stay in place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19C40500-DA31-48A1-9945-938EBBF5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687783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338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0ED73168-2D2A-455A-A2CC-E0374288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Q3 1:1 replacement ready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09050E2-9F0F-464F-94B4-954165F7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E8F3F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E8F3FB"/>
                </a:solidFill>
                <a:latin typeface="Times New Roman"/>
                <a:ea typeface="Times New Roman"/>
                <a:cs typeface="Times New Roman"/>
              </a:rPr>
              <a:t>Same sheets and row anchors</a:t>
            </a:r>
          </a:p>
          <a:p xmlns:a="http://schemas.openxmlformats.org/drawingml/2006/main">
            <a:pPr algn="l">
              <a:buNone/>
              <a:defRPr sz="1350">
                <a:solidFill>
                  <a:srgbClr val="E8F3F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E8F3FB"/>
                </a:solidFill>
                <a:latin typeface="Times New Roman"/>
                <a:ea typeface="Times New Roman"/>
                <a:cs typeface="Times New Roman"/>
              </a:rPr>
              <a:t>New price and coupon data</a:t>
            </a:r>
          </a:p>
          <a:p xmlns:a="http://schemas.openxmlformats.org/drawingml/2006/main">
            <a:pPr algn="l">
              <a:buNone/>
              <a:defRPr sz="1350">
                <a:solidFill>
                  <a:srgbClr val="E8F3F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E8F3FB"/>
                </a:solidFill>
                <a:latin typeface="Times New Roman"/>
                <a:ea typeface="Times New Roman"/>
                <a:cs typeface="Times New Roman"/>
              </a:rPr>
              <a:t>Native charts and tables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F3566E7-D214-4100-9D3E-E77EBAFF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FE8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BFE8FF"/>
                </a:solidFill>
                <a:latin typeface="Times New Roman"/>
                <a:ea typeface="Times New Roman"/>
                <a:cs typeface="Times New Roman"/>
              </a:rPr>
              <a:t>KPMG | DEAL ADVISORY</a:t>
            </a:r>
          </a:p>
        </p:txBody>
      </p:sp>
    </p:spTree>
    <p:extLst>
      <p:ext uri="{BB962C8B-B14F-4D97-AF65-F5344CB8AC3E}">
        <p14:creationId xmlns:p14="http://schemas.microsoft.com/office/powerpoint/2010/main" val="1345183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2026-08-12T21:24:09.3170000Z</dcterms:created>
  <dcterms:modified xsi:type="dcterms:W3CDTF">2026-08-12T21:24:09.3170000Z</dcterms:modified>
</coreProperties>
</file>