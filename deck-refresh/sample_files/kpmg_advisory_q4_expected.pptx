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Q4 Actual vs Q4 Budget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Q4 Actual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Sheet1!$A$2:$A$4</c:f>
              <c:strCache>
                <c:ptCount val="3"/>
                <c:pt idx="0">
                  <c:v>Advisory Revenue</c:v>
                </c:pt>
                <c:pt idx="1">
                  <c:v>Gross Contribution</c:v>
                </c:pt>
                <c:pt idx="2">
                  <c:v>Contribution Profit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522.8</c:v>
                </c:pt>
                <c:pt idx="1">
                  <c:v>268.4</c:v>
                </c:pt>
                <c:pt idx="2">
                  <c:v>129.6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Q4 Budget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Sheet1!$A$2:$A$4</c:f>
              <c:strCache>
                <c:ptCount val="3"/>
                <c:pt idx="0">
                  <c:v>Advisory Revenue</c:v>
                </c:pt>
                <c:pt idx="1">
                  <c:v>Gross Contribution</c:v>
                </c:pt>
                <c:pt idx="2">
                  <c:v>Contribution Profit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510.0</c:v>
                </c:pt>
                <c:pt idx="1">
                  <c:v>261.0</c:v>
                </c:pt>
                <c:pt idx="2">
                  <c:v>124.0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Q4 Service Line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Q4 Actual Revenue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Deal Advisory</c:v>
                </c:pt>
                <c:pt idx="1">
                  <c:v>Risk Consulting</c:v>
                </c:pt>
                <c:pt idx="2">
                  <c:v>Technology Consulting</c:v>
                </c:pt>
                <c:pt idx="3">
                  <c:v>Strategy &amp; Operations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154.7</c:v>
                </c:pt>
                <c:pt idx="1">
                  <c:v>139.2</c:v>
                </c:pt>
                <c:pt idx="2">
                  <c:v>131.8</c:v>
                </c:pt>
                <c:pt idx="3">
                  <c:v>97.1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Q4 Budget Revenue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Deal Advisory</c:v>
                </c:pt>
                <c:pt idx="1">
                  <c:v>Risk Consulting</c:v>
                </c:pt>
                <c:pt idx="2">
                  <c:v>Technology Consulting</c:v>
                </c:pt>
                <c:pt idx="3">
                  <c:v>Strategy &amp; Operations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149.0</c:v>
                </c:pt>
                <c:pt idx="1">
                  <c:v>136.0</c:v>
                </c:pt>
                <c:pt idx="2">
                  <c:v>128.0</c:v>
                </c:pt>
                <c:pt idx="3">
                  <c:v>97.0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Q4 Service Line Margins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Q4 Delivery Margin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Deal Advisory</c:v>
                </c:pt>
                <c:pt idx="1">
                  <c:v>Risk Consulting</c:v>
                </c:pt>
                <c:pt idx="2">
                  <c:v>Technology Consulting</c:v>
                </c:pt>
                <c:pt idx="3">
                  <c:v>Strategy &amp; Operations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58.2</c:v>
                </c:pt>
                <c:pt idx="1">
                  <c:v>54.1</c:v>
                </c:pt>
                <c:pt idx="2">
                  <c:v>51.3</c:v>
                </c:pt>
                <c:pt idx="3">
                  <c:v>47.4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Q4 Contribution Margin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Deal Advisory</c:v>
                </c:pt>
                <c:pt idx="1">
                  <c:v>Risk Consulting</c:v>
                </c:pt>
                <c:pt idx="2">
                  <c:v>Technology Consulting</c:v>
                </c:pt>
                <c:pt idx="3">
                  <c:v>Strategy &amp; Operations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29.1</c:v>
                </c:pt>
                <c:pt idx="1">
                  <c:v>25.0</c:v>
                </c:pt>
                <c:pt idx="2">
                  <c:v>22.2</c:v>
                </c:pt>
                <c:pt idx="3">
                  <c:v>19.7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Q4 Engagement Funnel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Q4 New Engagements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Existing Clients</c:v>
                </c:pt>
                <c:pt idx="1">
                  <c:v>Strategic Partners</c:v>
                </c:pt>
                <c:pt idx="2">
                  <c:v>Digital Campaigns</c:v>
                </c:pt>
                <c:pt idx="3">
                  <c:v>Executive Events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132.0</c:v>
                </c:pt>
                <c:pt idx="1">
                  <c:v>83.0</c:v>
                </c:pt>
                <c:pt idx="2">
                  <c:v>74.0</c:v>
                </c:pt>
                <c:pt idx="3">
                  <c:v>39.0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Q4 Qualified Opportunities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Existing Clients</c:v>
                </c:pt>
                <c:pt idx="1">
                  <c:v>Strategic Partners</c:v>
                </c:pt>
                <c:pt idx="2">
                  <c:v>Digital Campaigns</c:v>
                </c:pt>
                <c:pt idx="3">
                  <c:v>Executive Events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318.0</c:v>
                </c:pt>
                <c:pt idx="1">
                  <c:v>226.0</c:v>
                </c:pt>
                <c:pt idx="2">
                  <c:v>224.0</c:v>
                </c:pt>
                <c:pt idx="3">
                  <c:v>112.0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Q4 Revenue and Contribution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Q4 Revenue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Financial Services</c:v>
                </c:pt>
                <c:pt idx="1">
                  <c:v>Consumer &amp; Retail</c:v>
                </c:pt>
                <c:pt idx="2">
                  <c:v>Healthcare</c:v>
                </c:pt>
                <c:pt idx="3">
                  <c:v>Technology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168.2</c:v>
                </c:pt>
                <c:pt idx="1">
                  <c:v>127.5</c:v>
                </c:pt>
                <c:pt idx="2">
                  <c:v>118.4</c:v>
                </c:pt>
                <c:pt idx="3">
                  <c:v>108.7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Q4 Contribution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Financial Services</c:v>
                </c:pt>
                <c:pt idx="1">
                  <c:v>Consumer &amp; Retail</c:v>
                </c:pt>
                <c:pt idx="2">
                  <c:v>Healthcare</c:v>
                </c:pt>
                <c:pt idx="3">
                  <c:v>Technology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44.9</c:v>
                </c:pt>
                <c:pt idx="1">
                  <c:v>30.6</c:v>
                </c:pt>
                <c:pt idx="2">
                  <c:v>28.1</c:v>
                </c:pt>
                <c:pt idx="3">
                  <c:v>26.0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0338D"/>
                </a:solidFill>
                <a:latin typeface="Aptos"/>
              </a:defRPr>
            </a:pPr>
            <a:r>
              <a:t>Q4 Practice Costs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Q4 Actual Costs</c:v>
                </c:pt>
              </c:strCache>
            </c:strRef>
          </c:tx>
          <c:spPr>
            <a:solidFill>
              <a:srgbClr val="005EB8"/>
            </a:solidFill>
            <a:ln>
              <a:solidFill>
                <a:srgbClr val="005EB8"/>
              </a:solidFill>
            </a:ln>
          </c:spPr>
          <c:cat>
            <c:strRef>
              <c:f>Sheet1!$A$2:$A$5</c:f>
              <c:strCache>
                <c:ptCount val="4"/>
                <c:pt idx="0">
                  <c:v>Business Development</c:v>
                </c:pt>
                <c:pt idx="1">
                  <c:v>Technology Enablement</c:v>
                </c:pt>
                <c:pt idx="2">
                  <c:v>Talent &amp; Learning</c:v>
                </c:pt>
                <c:pt idx="3">
                  <c:v>Practice Operations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41.2</c:v>
                </c:pt>
                <c:pt idx="1">
                  <c:v>34.7</c:v>
                </c:pt>
                <c:pt idx="2">
                  <c:v>30.8</c:v>
                </c:pt>
                <c:pt idx="3">
                  <c:v>32.1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Q4 Budget Costs</c:v>
                </c:pt>
              </c:strCache>
            </c:strRef>
          </c:tx>
          <c:spPr>
            <a:solidFill>
              <a:srgbClr val="0091DA"/>
            </a:solidFill>
            <a:ln>
              <a:solidFill>
                <a:srgbClr val="0091DA"/>
              </a:solidFill>
            </a:ln>
          </c:spPr>
          <c:cat>
            <c:strRef>
              <c:f>Sheet1!$A$2:$A$5</c:f>
              <c:strCache>
                <c:ptCount val="4"/>
                <c:pt idx="0">
                  <c:v>Business Development</c:v>
                </c:pt>
                <c:pt idx="1">
                  <c:v>Technology Enablement</c:v>
                </c:pt>
                <c:pt idx="2">
                  <c:v>Talent &amp; Learning</c:v>
                </c:pt>
                <c:pt idx="3">
                  <c:v>Practice Operations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40.5</c:v>
                </c:pt>
                <c:pt idx="1">
                  <c:v>34.0</c:v>
                </c:pt>
                <c:pt idx="2">
                  <c:v>31.0</c:v>
                </c:pt>
                <c:pt idx="3">
                  <c:v>31.5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8E1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274320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KPMG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874519"/>
            <a:ext cx="8686800" cy="9144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Q4 FY2026 Advisory Practice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34640"/>
            <a:ext cx="8138160" cy="9144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500" b="0">
                <a:solidFill>
                  <a:srgbClr val="D7E4F5"/>
                </a:solidFill>
                <a:latin typeface="Aptos"/>
              </a:defRPr>
            </a:pPr>
            <a:r>
              <a:t>Fictional KPMG data for testing presentation updates, native tables, charts, formatting, and synchronized comparison.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46920" y="0"/>
            <a:ext cx="2542032" cy="68580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39528" y="2423160"/>
            <a:ext cx="1920240" cy="11887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INTERNAL</a:t>
            </a:r>
            <a:br/>
            <a:r>
              <a:t>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93808" y="3886200"/>
            <a:ext cx="201168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Aptos"/>
              </a:defRPr>
            </a:pPr>
            <a:r>
              <a:t>All figures are fictional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Q4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Fictional advisory practice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$522.8M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Advisory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73152" cy="1600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$129.6M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Contribution Profit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44752"/>
            <a:ext cx="73152" cy="16002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24.8%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Contribution 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444752"/>
            <a:ext cx="73152" cy="1600200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1,286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Active Engagements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9584"/>
            <a:ext cx="73152" cy="1600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84.9%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Repeat Client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529584"/>
            <a:ext cx="73152" cy="16002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78.6%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Billable Utilization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529584"/>
            <a:ext cx="73152" cy="1600200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Q4 Financial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Advisory practice performance versus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480060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371600"/>
                <a:gridCol w="1371600"/>
              </a:tblGrid>
              <a:tr h="71932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Actual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Budget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Advisory Revenue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$522.8M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$510.0M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Client Delivery Costs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$254.4M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$249.0M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Gross Contribution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$268.4M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$261.0M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Practice Expenses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$138.8M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$137.0M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71932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Contribution Profit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$129.6M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$124.0M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50992" y="1417320"/>
          <a:ext cx="5925312" cy="4315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Q4 Revenue by Service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Fictional KPMG advisory service-line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4846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63040"/>
                <a:gridCol w="1463040"/>
              </a:tblGrid>
              <a:tr h="8321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Service Line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Actual Revenue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Budget Revenue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Deal Advisory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$154.7M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$149.0M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Risk Consulting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$139.2M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$136.0M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Technology Consulting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$131.8M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$128.0M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Strategy &amp; Operations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$97.1M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$97.0M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50992" y="1417320"/>
          <a:ext cx="5925312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Q4 Service Line Profitability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Delivery and contribution margins by advisory service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4846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63040"/>
                <a:gridCol w="1463040"/>
              </a:tblGrid>
              <a:tr h="8321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Service Line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Delivery Margin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Contribution Margin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Deal Advisory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58.2%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Risk Consulting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54.1%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25.0%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Technology Consulting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51.3%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Strategy &amp; Operations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47.4%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19.7%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50992" y="1417320"/>
          <a:ext cx="5925312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Q4 Client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Engagement growth and pursuit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53312"/>
            <a:ext cx="25146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328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New Engagements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53312"/>
            <a:ext cx="73152" cy="129844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353312"/>
            <a:ext cx="25146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41.3%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Proposal Win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53312"/>
            <a:ext cx="73152" cy="129844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0" y="1353312"/>
            <a:ext cx="25146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$17,600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Average Pursuit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53312"/>
            <a:ext cx="73152" cy="1298448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32520" y="1353312"/>
            <a:ext cx="25146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$49.6M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Expansion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32520" y="1353312"/>
            <a:ext cx="73152" cy="1298448"/>
          </a:xfrm>
          <a:prstGeom prst="rect">
            <a:avLst/>
          </a:prstGeom>
          <a:solidFill>
            <a:srgbClr val="00A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4360" y="2944368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280160"/>
                <a:gridCol w="1280160"/>
                <a:gridCol w="150876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Channel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New Engagements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Qualified Opportunities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Average Pursuit Cost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Existing Clients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318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$9,600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Strategic Partners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83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226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$15,900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Digital Campaigns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$20,700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Executive Events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39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112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$25,300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27648" y="2944368"/>
          <a:ext cx="5248656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Q4 Sector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Revenue and contribution by client sector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54864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85039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Sector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Revenue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Contribution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Margin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Financial Services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$168.2M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$44.9M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26.7%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Consumer &amp; Retail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$127.5M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$30.6M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24.0%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Healthcare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$118.4M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$28.1M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23.7%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Technology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$108.7M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$26.0M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23.9%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27648" y="1417320"/>
          <a:ext cx="5248656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Q4 Practice Costs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Fictional advisory practice spend versus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4846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63040"/>
                <a:gridCol w="1463040"/>
              </a:tblGrid>
              <a:tr h="8321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Function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Actual Costs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Q4 Budget Costs</a:t>
                      </a:r>
                    </a:p>
                  </a:txBody>
                  <a:tcPr anchor="ctr">
                    <a:solidFill>
                      <a:srgbClr val="00338D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Business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$41.2M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$40.5M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Technology Enablement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$34.7M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$34.0M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Talent &amp; Learning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$30.8M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$31.0M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Practice Operations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$32.1M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0">
                          <a:solidFill>
                            <a:srgbClr val="1F2937"/>
                          </a:solidFill>
                          <a:latin typeface="Aptos"/>
                        </a:defRPr>
                      </a:pPr>
                      <a:r>
                        <a:t>$31.5M</a:t>
                      </a:r>
                    </a:p>
                  </a:txBody>
                  <a:tcPr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50992" y="1417320"/>
          <a:ext cx="5925312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1381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2400" b="1">
                <a:solidFill>
                  <a:srgbClr val="00338D"/>
                </a:solidFill>
                <a:latin typeface="Aptos"/>
              </a:defRPr>
            </a:pPr>
            <a:r>
              <a:t>Q4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896112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ptos"/>
              </a:defRPr>
            </a:pPr>
            <a:r>
              <a:t>Forward indicators and fictional management forecast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64240" cy="274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$558.0M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Forecast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44752"/>
            <a:ext cx="73152" cy="1600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$143.5M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Forecast Contribution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44752"/>
            <a:ext cx="73152" cy="16002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444752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25.7%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Forecast Contribution 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444752"/>
            <a:ext cx="73152" cy="1600200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3.5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Pipeline 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9584"/>
            <a:ext cx="73152" cy="1600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$352.4M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Contracted Backlog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529584"/>
            <a:ext cx="73152" cy="16002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3529584"/>
            <a:ext cx="3401568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91440" bIns="73152">
            <a:noAutofit/>
          </a:bodyPr>
          <a:lstStyle/>
          <a:p>
            <a:pPr algn="ctr">
              <a:defRPr sz="2400" b="1">
                <a:solidFill>
                  <a:srgbClr val="00338D"/>
                </a:solidFill>
                <a:latin typeface="Aptos Display"/>
              </a:defRPr>
            </a:pPr>
            <a:r>
              <a:t>81.2%</a:t>
            </a:r>
          </a:p>
          <a:p>
            <a:pPr>
              <a:defRPr sz="1000">
                <a:solidFill>
                  <a:srgbClr val="64748B"/>
                </a:solidFill>
                <a:latin typeface="Aptos"/>
              </a:defRPr>
            </a:pPr>
            <a:r>
              <a:t>Forecast Utilization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529584"/>
            <a:ext cx="73152" cy="1600200"/>
          </a:xfrm>
          <a:prstGeom prst="rect">
            <a:avLst/>
          </a:prstGeom>
          <a:solidFill>
            <a:srgbClr val="470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548640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Aptos"/>
              </a:defRPr>
            </a:pPr>
            <a:r>
              <a:t>KPMG | Internal demonstration | Fictional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